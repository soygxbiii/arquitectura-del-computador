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9" r:id="rId5"/>
    <p:sldId id="260" r:id="rId6"/>
    <p:sldId id="262" r:id="rId7"/>
    <p:sldId id="268" r:id="rId8"/>
    <p:sldId id="264" r:id="rId9"/>
    <p:sldId id="265" r:id="rId10"/>
    <p:sldId id="266" r:id="rId11"/>
    <p:sldId id="267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1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96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70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5277" y="2405262"/>
            <a:ext cx="11561445" cy="1923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  <a:defRPr/>
            </a:pPr>
            <a:r>
              <a:rPr sz="4400" b="1" i="0" dirty="0" err="1">
                <a:solidFill>
                  <a:srgbClr val="002060"/>
                </a:solidFill>
              </a:rPr>
              <a:t>Simulador</a:t>
            </a:r>
            <a:r>
              <a:rPr sz="4400" b="1" i="0" dirty="0">
                <a:solidFill>
                  <a:srgbClr val="002060"/>
                </a:solidFill>
              </a:rPr>
              <a:t> de </a:t>
            </a:r>
            <a:r>
              <a:rPr sz="4400" b="1" i="0" dirty="0" err="1">
                <a:solidFill>
                  <a:srgbClr val="002060"/>
                </a:solidFill>
              </a:rPr>
              <a:t>Caché</a:t>
            </a:r>
            <a:r>
              <a:rPr sz="4400" b="1" i="0" dirty="0">
                <a:solidFill>
                  <a:srgbClr val="002060"/>
                </a:solidFill>
              </a:rPr>
              <a:t> de </a:t>
            </a:r>
            <a:endParaRPr lang="es-VE" sz="4400" b="1" dirty="0">
              <a:solidFill>
                <a:srgbClr val="002060"/>
              </a:solidFill>
            </a:endParaRPr>
          </a:p>
          <a:p>
            <a:pPr algn="ctr">
              <a:lnSpc>
                <a:spcPts val="5040"/>
              </a:lnSpc>
              <a:defRPr/>
            </a:pPr>
            <a:r>
              <a:rPr sz="4400" b="1" i="0" dirty="0" err="1">
                <a:solidFill>
                  <a:srgbClr val="002060"/>
                </a:solidFill>
              </a:rPr>
              <a:t>Correspondencia</a:t>
            </a:r>
            <a:r>
              <a:rPr sz="2000" dirty="0">
                <a:solidFill>
                  <a:srgbClr val="002060"/>
                </a:solidFill>
              </a:rPr>
              <a:t>
</a:t>
            </a:r>
            <a:r>
              <a:rPr sz="4400" b="1" i="0" dirty="0">
                <a:solidFill>
                  <a:srgbClr val="002060"/>
                </a:solidFill>
              </a:rPr>
              <a:t> </a:t>
            </a:r>
            <a:r>
              <a:rPr sz="4400" b="1" i="0" dirty="0" err="1">
                <a:solidFill>
                  <a:srgbClr val="002060"/>
                </a:solidFill>
              </a:rPr>
              <a:t>Directa</a:t>
            </a:r>
            <a:r>
              <a:rPr sz="4400" b="1" i="0" dirty="0">
                <a:solidFill>
                  <a:srgbClr val="002060"/>
                </a:solidFill>
              </a:rPr>
              <a:t> y </a:t>
            </a:r>
            <a:r>
              <a:rPr sz="4400" b="1" i="0" dirty="0" err="1">
                <a:solidFill>
                  <a:srgbClr val="002060"/>
                </a:solidFill>
              </a:rPr>
              <a:t>Asociativa</a:t>
            </a:r>
            <a:r>
              <a:rPr sz="4400" b="1" i="0" dirty="0">
                <a:solidFill>
                  <a:srgbClr val="002060"/>
                </a:solidFill>
              </a:rPr>
              <a:t> por </a:t>
            </a:r>
            <a:r>
              <a:rPr sz="4400" b="1" i="0" dirty="0" err="1">
                <a:solidFill>
                  <a:srgbClr val="002060"/>
                </a:solidFill>
              </a:rPr>
              <a:t>Vías</a:t>
            </a:r>
            <a:endParaRPr sz="4400" b="1" i="0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90824" y="173139"/>
            <a:ext cx="661035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VE" sz="1600" dirty="0">
                <a:latin typeface="+mj-lt"/>
              </a:rPr>
              <a:t>Universidad de Carabobo</a:t>
            </a:r>
          </a:p>
          <a:p>
            <a:pPr algn="ctr"/>
            <a:r>
              <a:rPr lang="es-VE" sz="1600" dirty="0">
                <a:latin typeface="+mj-lt"/>
              </a:rPr>
              <a:t>Facultad Experimental de Ciencias y Tecnología</a:t>
            </a:r>
          </a:p>
          <a:p>
            <a:pPr algn="ctr"/>
            <a:r>
              <a:rPr lang="es-VE" sz="1600" dirty="0">
                <a:latin typeface="+mj-lt"/>
              </a:rPr>
              <a:t>Departamento de Computación</a:t>
            </a:r>
          </a:p>
          <a:p>
            <a:pPr algn="ctr"/>
            <a:r>
              <a:rPr lang="es-VE" sz="1600" u="none" dirty="0">
                <a:latin typeface="+mj-lt"/>
              </a:rPr>
              <a:t>Arquitectura del Computador</a:t>
            </a:r>
          </a:p>
          <a:p>
            <a:pPr algn="ctr"/>
            <a:endParaRPr sz="1600" i="0" u="none" dirty="0">
              <a:solidFill>
                <a:srgbClr val="F43F5E"/>
              </a:solidFill>
              <a:latin typeface="Poppins SemiBold"/>
            </a:endParaRP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47DE3C88-78AF-4DA8-8029-318881F29D46}"/>
              </a:ext>
            </a:extLst>
          </p:cNvPr>
          <p:cNvSpPr txBox="1"/>
          <p:nvPr/>
        </p:nvSpPr>
        <p:spPr>
          <a:xfrm>
            <a:off x="2790825" y="6348687"/>
            <a:ext cx="6610350" cy="320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600" i="0" u="none" dirty="0"/>
              <a:t>1 de </a:t>
            </a:r>
            <a:r>
              <a:rPr sz="1600" i="0" u="none" dirty="0" err="1"/>
              <a:t>Septiembre</a:t>
            </a:r>
            <a:r>
              <a:rPr sz="1600" i="0" u="none" dirty="0"/>
              <a:t> de 2026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B5387E25-B8D5-4229-86CF-236CB03BD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46" y="173139"/>
            <a:ext cx="1019510" cy="1359346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7334C641-A9B4-42A4-A33E-DE1CD7D28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523" b="97561" l="8840" r="96133">
                        <a14:foregroundMark x1="9116" y1="25745" x2="9116" y2="25745"/>
                        <a14:foregroundMark x1="30110" y1="8943" x2="30110" y2="8943"/>
                        <a14:foregroundMark x1="35083" y1="4607" x2="35083" y2="4607"/>
                        <a14:foregroundMark x1="91713" y1="36314" x2="91713" y2="36314"/>
                        <a14:foregroundMark x1="96133" y1="37127" x2="96133" y2="37127"/>
                        <a14:foregroundMark x1="15470" y1="84553" x2="15470" y2="84553"/>
                        <a14:foregroundMark x1="9116" y1="88618" x2="9116" y2="88618"/>
                        <a14:foregroundMark x1="10497" y1="93767" x2="10497" y2="93767"/>
                        <a14:foregroundMark x1="26243" y1="91599" x2="26243" y2="91599"/>
                        <a14:foregroundMark x1="43923" y1="89702" x2="43923" y2="89702"/>
                        <a14:foregroundMark x1="64917" y1="86992" x2="64917" y2="86992"/>
                        <a14:foregroundMark x1="85635" y1="85908" x2="85635" y2="85908"/>
                        <a14:foregroundMark x1="69890" y1="97561" x2="69890" y2="97561"/>
                        <a14:backgroundMark x1="85083" y1="86992" x2="85083" y2="86992"/>
                        <a14:backgroundMark x1="86188" y1="86450" x2="86188" y2="86450"/>
                        <a14:backgroundMark x1="85359" y1="86179" x2="85359" y2="861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54995" y="125370"/>
            <a:ext cx="1333559" cy="1359346"/>
          </a:xfrm>
          <a:prstGeom prst="rect">
            <a:avLst/>
          </a:prstGeom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3EBFFBD6-94AE-488C-98A9-664FF6F00958}"/>
              </a:ext>
            </a:extLst>
          </p:cNvPr>
          <p:cNvGrpSpPr/>
          <p:nvPr/>
        </p:nvGrpSpPr>
        <p:grpSpPr>
          <a:xfrm>
            <a:off x="457967" y="5085889"/>
            <a:ext cx="2892214" cy="1008640"/>
            <a:chOff x="9779720" y="4898853"/>
            <a:chExt cx="2892214" cy="1008640"/>
          </a:xfrm>
        </p:grpSpPr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B6756BE0-4D4A-471A-B0B0-6F7E1DBCA220}"/>
                </a:ext>
              </a:extLst>
            </p:cNvPr>
            <p:cNvGrpSpPr/>
            <p:nvPr/>
          </p:nvGrpSpPr>
          <p:grpSpPr>
            <a:xfrm>
              <a:off x="9779720" y="5184660"/>
              <a:ext cx="2828416" cy="722833"/>
              <a:chOff x="9163049" y="5395912"/>
              <a:chExt cx="2181226" cy="722833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9163049" y="5395912"/>
                <a:ext cx="2181225" cy="21800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ts val="1687"/>
                  </a:lnSpc>
                </a:pPr>
                <a:r>
                  <a:rPr lang="es-VE" sz="1600" i="0" u="none" dirty="0"/>
                  <a:t> </a:t>
                </a:r>
                <a:r>
                  <a:rPr sz="1600" i="0" u="none" dirty="0"/>
                  <a:t>Gabriela Mora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9163050" y="5648325"/>
                <a:ext cx="2181225" cy="21800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ts val="1687"/>
                  </a:lnSpc>
                </a:pPr>
                <a:r>
                  <a:rPr lang="es-VE" sz="1600" i="0" dirty="0"/>
                  <a:t> </a:t>
                </a:r>
                <a:r>
                  <a:rPr sz="1600" i="0" dirty="0"/>
                  <a:t>Lucía Martínez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9163050" y="5900737"/>
                <a:ext cx="2181225" cy="21800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ts val="1687"/>
                  </a:lnSpc>
                </a:pPr>
                <a:r>
                  <a:rPr lang="es-VE" sz="1600" i="0" u="none" dirty="0"/>
                  <a:t> </a:t>
                </a:r>
                <a:r>
                  <a:rPr sz="1600" i="0" u="none" dirty="0" err="1"/>
                  <a:t>Maivet</a:t>
                </a:r>
                <a:r>
                  <a:rPr sz="1600" i="0" u="none" dirty="0"/>
                  <a:t> Pereira</a:t>
                </a:r>
              </a:p>
            </p:txBody>
          </p:sp>
        </p:grpSp>
        <p:sp>
          <p:nvSpPr>
            <p:cNvPr id="19" name="TextBox 6">
              <a:extLst>
                <a:ext uri="{FF2B5EF4-FFF2-40B4-BE49-F238E27FC236}">
                  <a16:creationId xmlns:a16="http://schemas.microsoft.com/office/drawing/2014/main" id="{DAB38EFD-4F19-47EB-93F8-9F0221A8867F}"/>
                </a:ext>
              </a:extLst>
            </p:cNvPr>
            <p:cNvSpPr txBox="1"/>
            <p:nvPr/>
          </p:nvSpPr>
          <p:spPr>
            <a:xfrm>
              <a:off x="9843519" y="4898853"/>
              <a:ext cx="2828415" cy="2180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ts val="1687"/>
                </a:lnSpc>
              </a:pPr>
              <a:r>
                <a:rPr lang="es-VE" sz="1600" b="1" i="0" u="none" dirty="0"/>
                <a:t>Integrantes:</a:t>
              </a:r>
              <a:endParaRPr sz="1600" b="1" i="0" u="none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90550" y="495300"/>
            <a:ext cx="1156144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200" b="1" i="0" u="none" dirty="0">
                <a:solidFill>
                  <a:srgbClr val="002060"/>
                </a:solidFill>
              </a:rPr>
              <a:t>El </a:t>
            </a:r>
            <a:r>
              <a:rPr sz="3200" b="1" i="0" u="none" dirty="0" err="1">
                <a:solidFill>
                  <a:srgbClr val="002060"/>
                </a:solidFill>
              </a:rPr>
              <a:t>Problema</a:t>
            </a:r>
            <a:r>
              <a:rPr sz="3200" b="1" i="0" u="none" dirty="0">
                <a:solidFill>
                  <a:srgbClr val="002060"/>
                </a:solidFill>
              </a:rPr>
              <a:t> de la Memoria </a:t>
            </a:r>
            <a:r>
              <a:rPr sz="3200" b="1" i="0" u="none" dirty="0" err="1">
                <a:solidFill>
                  <a:srgbClr val="002060"/>
                </a:solidFill>
              </a:rPr>
              <a:t>Caché</a:t>
            </a:r>
            <a:endParaRPr sz="3200" b="1" i="0" u="none" dirty="0">
              <a:solidFill>
                <a:srgbClr val="00206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B0F0"/>
              </a:solidFill>
            </a:endParaRP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5A328E64-236C-4ABE-A373-AD4D205136E3}"/>
              </a:ext>
            </a:extLst>
          </p:cNvPr>
          <p:cNvGrpSpPr/>
          <p:nvPr/>
        </p:nvGrpSpPr>
        <p:grpSpPr>
          <a:xfrm>
            <a:off x="1850955" y="2198988"/>
            <a:ext cx="8490089" cy="3507195"/>
            <a:chOff x="2779195" y="2432968"/>
            <a:chExt cx="6638050" cy="3507195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74B62395-094D-49EF-8AFC-CF5AC21B2CF7}"/>
                </a:ext>
              </a:extLst>
            </p:cNvPr>
            <p:cNvGrpSpPr/>
            <p:nvPr/>
          </p:nvGrpSpPr>
          <p:grpSpPr>
            <a:xfrm>
              <a:off x="2779195" y="2432968"/>
              <a:ext cx="6633609" cy="2617291"/>
              <a:chOff x="590550" y="1958667"/>
              <a:chExt cx="6405673" cy="2617291"/>
            </a:xfrm>
          </p:grpSpPr>
          <p:grpSp>
            <p:nvGrpSpPr>
              <p:cNvPr id="13" name="Grupo 12">
                <a:extLst>
                  <a:ext uri="{FF2B5EF4-FFF2-40B4-BE49-F238E27FC236}">
                    <a16:creationId xmlns:a16="http://schemas.microsoft.com/office/drawing/2014/main" id="{48DB55EF-D585-4F37-8F80-42FD0869D09E}"/>
                  </a:ext>
                </a:extLst>
              </p:cNvPr>
              <p:cNvGrpSpPr/>
              <p:nvPr/>
            </p:nvGrpSpPr>
            <p:grpSpPr>
              <a:xfrm>
                <a:off x="923925" y="1958667"/>
                <a:ext cx="6072298" cy="2617291"/>
                <a:chOff x="923925" y="2105025"/>
                <a:chExt cx="4981575" cy="2617291"/>
              </a:xfrm>
            </p:grpSpPr>
            <p:sp>
              <p:nvSpPr>
                <p:cNvPr id="5" name="TextBox 4"/>
                <p:cNvSpPr txBox="1"/>
                <p:nvPr/>
              </p:nvSpPr>
              <p:spPr>
                <a:xfrm>
                  <a:off x="923925" y="2105025"/>
                  <a:ext cx="4981575" cy="75270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just">
                    <a:lnSpc>
                      <a:spcPts val="2025"/>
                    </a:lnSpc>
                  </a:pPr>
                  <a:r>
                    <a:rPr b="1" dirty="0">
                      <a:solidFill>
                        <a:srgbClr val="002060"/>
                      </a:solidFill>
                    </a:rPr>
                    <a:t>¿</a:t>
                  </a:r>
                  <a:r>
                    <a:rPr b="1" dirty="0" err="1">
                      <a:solidFill>
                        <a:srgbClr val="002060"/>
                      </a:solidFill>
                    </a:rPr>
                    <a:t>Qué</a:t>
                  </a:r>
                  <a:r>
                    <a:rPr b="1" dirty="0">
                      <a:solidFill>
                        <a:srgbClr val="002060"/>
                      </a:solidFill>
                    </a:rPr>
                    <a:t> es la </a:t>
                  </a:r>
                  <a:r>
                    <a:rPr b="1" dirty="0" err="1">
                      <a:solidFill>
                        <a:srgbClr val="002060"/>
                      </a:solidFill>
                    </a:rPr>
                    <a:t>memoria</a:t>
                  </a:r>
                  <a:r>
                    <a:rPr b="1" dirty="0">
                      <a:solidFill>
                        <a:srgbClr val="002060"/>
                      </a:solidFill>
                    </a:rPr>
                    <a:t> </a:t>
                  </a:r>
                  <a:r>
                    <a:rPr b="1" dirty="0" err="1">
                      <a:solidFill>
                        <a:srgbClr val="002060"/>
                      </a:solidFill>
                    </a:rPr>
                    <a:t>caché</a:t>
                  </a:r>
                  <a:r>
                    <a:rPr b="1" dirty="0">
                      <a:solidFill>
                        <a:srgbClr val="002060"/>
                      </a:solidFill>
                    </a:rPr>
                    <a:t>? </a:t>
                  </a:r>
                  <a:r>
                    <a:rPr sz="1600" dirty="0"/>
                    <a:t>Memoria </a:t>
                  </a:r>
                  <a:r>
                    <a:rPr sz="1600" dirty="0" err="1"/>
                    <a:t>pequeña</a:t>
                  </a:r>
                  <a:r>
                    <a:rPr sz="1600" dirty="0"/>
                    <a:t> y </a:t>
                  </a:r>
                  <a:r>
                    <a:rPr sz="1600" dirty="0" err="1"/>
                    <a:t>extremadamente</a:t>
                  </a:r>
                  <a:r>
                    <a:rPr sz="1600" dirty="0"/>
                    <a:t> </a:t>
                  </a:r>
                  <a:r>
                    <a:rPr sz="1600" dirty="0" err="1"/>
                    <a:t>rápida</a:t>
                  </a:r>
                  <a:r>
                    <a:rPr sz="1600" dirty="0"/>
                    <a:t> </a:t>
                  </a:r>
                  <a:r>
                    <a:rPr sz="1600" dirty="0" err="1"/>
                    <a:t>ubicada</a:t>
                  </a:r>
                  <a:r>
                    <a:rPr sz="1600" dirty="0"/>
                    <a:t> </a:t>
                  </a:r>
                  <a:r>
                    <a:rPr sz="1600" dirty="0" err="1"/>
                    <a:t>cerca</a:t>
                  </a:r>
                  <a:r>
                    <a:rPr sz="1600" dirty="0"/>
                    <a:t> del </a:t>
                  </a:r>
                  <a:r>
                    <a:rPr sz="1600" dirty="0" err="1"/>
                    <a:t>procesador</a:t>
                  </a:r>
                  <a:r>
                    <a:rPr sz="1600" dirty="0"/>
                    <a:t> para </a:t>
                  </a:r>
                  <a:r>
                    <a:rPr sz="1600" dirty="0" err="1"/>
                    <a:t>almacenar</a:t>
                  </a:r>
                  <a:r>
                    <a:rPr sz="1600" dirty="0"/>
                    <a:t> </a:t>
                  </a:r>
                  <a:r>
                    <a:rPr sz="1600" dirty="0" err="1"/>
                    <a:t>datos</a:t>
                  </a:r>
                  <a:r>
                    <a:rPr sz="1600" dirty="0"/>
                    <a:t> </a:t>
                  </a:r>
                  <a:r>
                    <a:rPr sz="1600" dirty="0" err="1"/>
                    <a:t>frecuentes</a:t>
                  </a:r>
                  <a:endParaRPr sz="1600" dirty="0"/>
                </a:p>
              </p:txBody>
            </p:sp>
            <p:sp>
              <p:nvSpPr>
                <p:cNvPr id="6" name="TextBox 5"/>
                <p:cNvSpPr txBox="1"/>
                <p:nvPr/>
              </p:nvSpPr>
              <p:spPr>
                <a:xfrm>
                  <a:off x="923925" y="3028950"/>
                  <a:ext cx="4981575" cy="75270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just">
                    <a:lnSpc>
                      <a:spcPts val="2025"/>
                    </a:lnSpc>
                  </a:pPr>
                  <a:r>
                    <a:rPr b="1" dirty="0">
                      <a:solidFill>
                        <a:srgbClr val="002060"/>
                      </a:solidFill>
                    </a:rPr>
                    <a:t>El </a:t>
                  </a:r>
                  <a:r>
                    <a:rPr b="1" dirty="0" err="1">
                      <a:solidFill>
                        <a:srgbClr val="002060"/>
                      </a:solidFill>
                    </a:rPr>
                    <a:t>problema</a:t>
                  </a:r>
                  <a:r>
                    <a:rPr b="1" dirty="0">
                      <a:solidFill>
                        <a:srgbClr val="002060"/>
                      </a:solidFill>
                    </a:rPr>
                    <a:t> central: </a:t>
                  </a:r>
                  <a:r>
                    <a:rPr sz="1600" dirty="0" err="1"/>
                    <a:t>Su</a:t>
                  </a:r>
                  <a:r>
                    <a:rPr sz="1600" dirty="0"/>
                    <a:t> </a:t>
                  </a:r>
                  <a:r>
                    <a:rPr sz="1600" dirty="0" err="1"/>
                    <a:t>tamaño</a:t>
                  </a:r>
                  <a:r>
                    <a:rPr sz="1600" dirty="0"/>
                    <a:t> es </a:t>
                  </a:r>
                  <a:r>
                    <a:rPr sz="1600" dirty="0" err="1"/>
                    <a:t>estrictamente</a:t>
                  </a:r>
                  <a:r>
                    <a:rPr sz="1600" dirty="0"/>
                    <a:t> </a:t>
                  </a:r>
                  <a:r>
                    <a:rPr sz="1600" dirty="0" err="1"/>
                    <a:t>limitado</a:t>
                  </a:r>
                  <a:r>
                    <a:rPr sz="1600" dirty="0"/>
                    <a:t>; </a:t>
                  </a:r>
                  <a:r>
                    <a:rPr sz="1600" dirty="0" err="1"/>
                    <a:t>cuando</a:t>
                  </a:r>
                  <a:r>
                    <a:rPr sz="1600" dirty="0"/>
                    <a:t> se </a:t>
                  </a:r>
                  <a:r>
                    <a:rPr sz="1600" dirty="0" err="1"/>
                    <a:t>llena</a:t>
                  </a:r>
                  <a:r>
                    <a:rPr sz="1600" dirty="0"/>
                    <a:t>, el </a:t>
                  </a:r>
                  <a:r>
                    <a:rPr sz="1600" dirty="0" err="1"/>
                    <a:t>procesador</a:t>
                  </a:r>
                  <a:r>
                    <a:rPr sz="1600" dirty="0"/>
                    <a:t> </a:t>
                  </a:r>
                  <a:r>
                    <a:rPr sz="1600" dirty="0" err="1"/>
                    <a:t>pierde</a:t>
                  </a:r>
                  <a:r>
                    <a:rPr sz="1600" dirty="0"/>
                    <a:t> </a:t>
                  </a:r>
                  <a:r>
                    <a:rPr sz="1600" dirty="0" err="1"/>
                    <a:t>valioso</a:t>
                  </a:r>
                  <a:r>
                    <a:rPr sz="1600" dirty="0"/>
                    <a:t> </a:t>
                  </a:r>
                  <a:r>
                    <a:rPr sz="1600" dirty="0" err="1"/>
                    <a:t>tiempo</a:t>
                  </a:r>
                  <a:r>
                    <a:rPr sz="1600" dirty="0"/>
                    <a:t> </a:t>
                  </a:r>
                  <a:r>
                    <a:rPr sz="1600" dirty="0" err="1"/>
                    <a:t>esperando</a:t>
                  </a:r>
                  <a:r>
                    <a:rPr sz="1600" dirty="0"/>
                    <a:t> </a:t>
                  </a:r>
                  <a:r>
                    <a:rPr sz="1600" dirty="0" err="1"/>
                    <a:t>datos</a:t>
                  </a:r>
                  <a:r>
                    <a:rPr sz="1600" dirty="0"/>
                    <a:t> de la RAM</a:t>
                  </a:r>
                </a:p>
              </p:txBody>
            </p:sp>
            <p:sp>
              <p:nvSpPr>
                <p:cNvPr id="7" name="TextBox 6"/>
                <p:cNvSpPr txBox="1"/>
                <p:nvPr/>
              </p:nvSpPr>
              <p:spPr>
                <a:xfrm>
                  <a:off x="923925" y="3952875"/>
                  <a:ext cx="4981575" cy="7694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just"/>
                  <a:r>
                    <a:rPr b="1" dirty="0" err="1">
                      <a:solidFill>
                        <a:srgbClr val="002060"/>
                      </a:solidFill>
                    </a:rPr>
                    <a:t>Objetivo</a:t>
                  </a:r>
                  <a:r>
                    <a:rPr b="1" dirty="0">
                      <a:solidFill>
                        <a:srgbClr val="002060"/>
                      </a:solidFill>
                    </a:rPr>
                    <a:t> del </a:t>
                  </a:r>
                  <a:r>
                    <a:rPr b="1" dirty="0" err="1">
                      <a:solidFill>
                        <a:srgbClr val="002060"/>
                      </a:solidFill>
                    </a:rPr>
                    <a:t>proyecto</a:t>
                  </a:r>
                  <a:r>
                    <a:rPr b="1" dirty="0">
                      <a:solidFill>
                        <a:srgbClr val="002060"/>
                      </a:solidFill>
                    </a:rPr>
                    <a:t>: </a:t>
                  </a:r>
                  <a:r>
                    <a:rPr lang="es-ES" sz="1600" dirty="0"/>
                    <a:t>Desarrollar un simulador en C++ para modelar configuraciones de caché (mapeo directo y asociativo por vías) y analizar aciertos y fallos</a:t>
                  </a:r>
                  <a:endParaRPr sz="1600" dirty="0"/>
                </a:p>
              </p:txBody>
            </p:sp>
          </p:grpSp>
          <p:pic>
            <p:nvPicPr>
              <p:cNvPr id="8" name="Picture 7" descr="image.png"/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90550" y="2138362"/>
                <a:ext cx="190500" cy="200025"/>
              </a:xfrm>
              <a:prstGeom prst="rect">
                <a:avLst/>
              </a:prstGeom>
            </p:spPr>
          </p:pic>
          <p:pic>
            <p:nvPicPr>
              <p:cNvPr id="9" name="Picture 8" descr="image.png"/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90550" y="3062287"/>
                <a:ext cx="190500" cy="200025"/>
              </a:xfrm>
              <a:prstGeom prst="rect">
                <a:avLst/>
              </a:prstGeom>
            </p:spPr>
          </p:pic>
          <p:pic>
            <p:nvPicPr>
              <p:cNvPr id="10" name="Picture 9" descr="image.png"/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90550" y="3986212"/>
                <a:ext cx="190500" cy="200025"/>
              </a:xfrm>
              <a:prstGeom prst="rect">
                <a:avLst/>
              </a:prstGeom>
            </p:spPr>
          </p:pic>
        </p:grpSp>
        <p:sp>
          <p:nvSpPr>
            <p:cNvPr id="19" name="TextBox 6">
              <a:extLst>
                <a:ext uri="{FF2B5EF4-FFF2-40B4-BE49-F238E27FC236}">
                  <a16:creationId xmlns:a16="http://schemas.microsoft.com/office/drawing/2014/main" id="{E6B95F6C-98F5-4F2B-ABA5-AA907DAC71B9}"/>
                </a:ext>
              </a:extLst>
            </p:cNvPr>
            <p:cNvSpPr txBox="1"/>
            <p:nvPr/>
          </p:nvSpPr>
          <p:spPr>
            <a:xfrm>
              <a:off x="3128874" y="5170722"/>
              <a:ext cx="6288371" cy="7694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just"/>
              <a:r>
                <a:rPr lang="es-VE" b="1" dirty="0">
                  <a:solidFill>
                    <a:srgbClr val="002060"/>
                  </a:solidFill>
                </a:rPr>
                <a:t>Alcance</a:t>
              </a:r>
              <a:r>
                <a:rPr b="1" dirty="0">
                  <a:solidFill>
                    <a:srgbClr val="002060"/>
                  </a:solidFill>
                </a:rPr>
                <a:t>: </a:t>
              </a:r>
              <a:r>
                <a:rPr lang="es-ES" sz="1600" dirty="0"/>
                <a:t>En nuestro simulador trabajamos con la caché de mapeo directo (ubicación fija por bloque) y la caché asociativa por vías (mayor flexibilidad en un mismo conjunto)</a:t>
              </a:r>
              <a:endParaRPr sz="1600" dirty="0"/>
            </a:p>
          </p:txBody>
        </p:sp>
        <p:pic>
          <p:nvPicPr>
            <p:cNvPr id="20" name="Picture 9" descr="image.png">
              <a:extLst>
                <a:ext uri="{FF2B5EF4-FFF2-40B4-BE49-F238E27FC236}">
                  <a16:creationId xmlns:a16="http://schemas.microsoft.com/office/drawing/2014/main" id="{C017EE5B-F124-4306-98BB-7ABE2F443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783636" y="5350417"/>
              <a:ext cx="197279" cy="2000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/>
          <p:cNvSpPr txBox="1"/>
          <p:nvPr/>
        </p:nvSpPr>
        <p:spPr>
          <a:xfrm>
            <a:off x="590550" y="495300"/>
            <a:ext cx="1156144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s-VE" sz="3200" b="1" i="0" u="none" dirty="0">
                <a:solidFill>
                  <a:srgbClr val="002060"/>
                </a:solidFill>
                <a:latin typeface="Poppins"/>
              </a:rPr>
              <a:t>Técnicas Computacionales para su Solución</a:t>
            </a:r>
            <a:endParaRPr sz="3200" b="1" i="0" u="none" dirty="0">
              <a:solidFill>
                <a:srgbClr val="002060"/>
              </a:solidFill>
              <a:latin typeface="Poppin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8AC225FA-DF8E-413F-BCC0-D531EE3514CD}"/>
              </a:ext>
            </a:extLst>
          </p:cNvPr>
          <p:cNvGrpSpPr/>
          <p:nvPr/>
        </p:nvGrpSpPr>
        <p:grpSpPr>
          <a:xfrm>
            <a:off x="1268227" y="1615322"/>
            <a:ext cx="12532914" cy="4989553"/>
            <a:chOff x="1385185" y="1373147"/>
            <a:chExt cx="12532914" cy="4989553"/>
          </a:xfrm>
        </p:grpSpPr>
        <p:sp>
          <p:nvSpPr>
            <p:cNvPr id="40" name="TextBox 4">
              <a:extLst>
                <a:ext uri="{FF2B5EF4-FFF2-40B4-BE49-F238E27FC236}">
                  <a16:creationId xmlns:a16="http://schemas.microsoft.com/office/drawing/2014/main" id="{DC513514-FD54-4E69-81F2-FBEED62D3737}"/>
                </a:ext>
              </a:extLst>
            </p:cNvPr>
            <p:cNvSpPr txBox="1"/>
            <p:nvPr/>
          </p:nvSpPr>
          <p:spPr>
            <a:xfrm>
              <a:off x="1584786" y="1373147"/>
              <a:ext cx="7268589" cy="24647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ts val="2025"/>
                </a:lnSpc>
              </a:pPr>
              <a:r>
                <a:rPr lang="es-VE" sz="1600" dirty="0"/>
                <a:t>La caché se modela utilizando una matriz de estructuras</a:t>
              </a:r>
              <a:endParaRPr sz="1200" b="0" i="0" u="none" dirty="0">
                <a:latin typeface="Poppins"/>
              </a:endParaRPr>
            </a:p>
          </p:txBody>
        </p:sp>
        <p:pic>
          <p:nvPicPr>
            <p:cNvPr id="42" name="Imagen 41">
              <a:extLst>
                <a:ext uri="{FF2B5EF4-FFF2-40B4-BE49-F238E27FC236}">
                  <a16:creationId xmlns:a16="http://schemas.microsoft.com/office/drawing/2014/main" id="{765176C3-C7B3-4FF3-8887-9DED289B9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68967" y="2021640"/>
              <a:ext cx="2366780" cy="239069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cxnSp>
          <p:nvCxnSpPr>
            <p:cNvPr id="52" name="Conector: angular 51">
              <a:extLst>
                <a:ext uri="{FF2B5EF4-FFF2-40B4-BE49-F238E27FC236}">
                  <a16:creationId xmlns:a16="http://schemas.microsoft.com/office/drawing/2014/main" id="{73C4DA6F-416C-49A3-A370-654A0139885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3087161" y="1682488"/>
              <a:ext cx="318631" cy="184300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2D61CB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56" name="Picture 21" descr="image.png">
              <a:extLst>
                <a:ext uri="{FF2B5EF4-FFF2-40B4-BE49-F238E27FC236}">
                  <a16:creationId xmlns:a16="http://schemas.microsoft.com/office/drawing/2014/main" id="{E75C2316-E584-481B-B095-00DAF4C233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385185" y="1415297"/>
              <a:ext cx="171450" cy="200025"/>
            </a:xfrm>
            <a:prstGeom prst="rect">
              <a:avLst/>
            </a:prstGeom>
          </p:spPr>
        </p:pic>
        <p:pic>
          <p:nvPicPr>
            <p:cNvPr id="57" name="Imagen 56">
              <a:extLst>
                <a:ext uri="{FF2B5EF4-FFF2-40B4-BE49-F238E27FC236}">
                  <a16:creationId xmlns:a16="http://schemas.microsoft.com/office/drawing/2014/main" id="{95800759-408C-4A98-AA8B-34D81D9BD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56255" y="2021799"/>
              <a:ext cx="2590837" cy="233258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58" name="TextBox 4">
              <a:extLst>
                <a:ext uri="{FF2B5EF4-FFF2-40B4-BE49-F238E27FC236}">
                  <a16:creationId xmlns:a16="http://schemas.microsoft.com/office/drawing/2014/main" id="{7C2930C7-3010-4B0C-8E47-92199EECED6A}"/>
                </a:ext>
              </a:extLst>
            </p:cNvPr>
            <p:cNvSpPr txBox="1"/>
            <p:nvPr/>
          </p:nvSpPr>
          <p:spPr>
            <a:xfrm>
              <a:off x="6649510" y="1388137"/>
              <a:ext cx="7268589" cy="24647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>
                <a:lnSpc>
                  <a:spcPts val="2025"/>
                </a:lnSpc>
              </a:pPr>
              <a:r>
                <a:rPr lang="es-ES" sz="1600" dirty="0"/>
                <a:t>Cada bloque almacena 4 palabras</a:t>
              </a:r>
              <a:endParaRPr sz="1050" b="0" i="0" u="none" dirty="0">
                <a:latin typeface="Poppins"/>
              </a:endParaRPr>
            </a:p>
          </p:txBody>
        </p:sp>
        <p:pic>
          <p:nvPicPr>
            <p:cNvPr id="59" name="Picture 21" descr="image.png">
              <a:extLst>
                <a:ext uri="{FF2B5EF4-FFF2-40B4-BE49-F238E27FC236}">
                  <a16:creationId xmlns:a16="http://schemas.microsoft.com/office/drawing/2014/main" id="{88278066-8C11-47B2-B161-D0EAAFE8C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421334" y="1418014"/>
              <a:ext cx="171450" cy="200025"/>
            </a:xfrm>
            <a:prstGeom prst="rect">
              <a:avLst/>
            </a:prstGeom>
          </p:spPr>
        </p:pic>
        <p:cxnSp>
          <p:nvCxnSpPr>
            <p:cNvPr id="60" name="Conector: angular 59">
              <a:extLst>
                <a:ext uri="{FF2B5EF4-FFF2-40B4-BE49-F238E27FC236}">
                  <a16:creationId xmlns:a16="http://schemas.microsoft.com/office/drawing/2014/main" id="{B5E4FA2D-B451-44FD-BCA0-82550C3E67A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484508" y="1702685"/>
              <a:ext cx="318631" cy="184300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2D61CB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61" name="Imagen 60">
              <a:extLst>
                <a:ext uri="{FF2B5EF4-FFF2-40B4-BE49-F238E27FC236}">
                  <a16:creationId xmlns:a16="http://schemas.microsoft.com/office/drawing/2014/main" id="{37D4E53A-6748-47C7-9FFB-5E12A8CBF6F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64284" y="3390485"/>
              <a:ext cx="7240010" cy="2972215"/>
            </a:xfrm>
            <a:prstGeom prst="rect">
              <a:avLst/>
            </a:prstGeom>
          </p:spPr>
        </p:pic>
        <p:pic>
          <p:nvPicPr>
            <p:cNvPr id="62" name="Imagen 61">
              <a:extLst>
                <a:ext uri="{FF2B5EF4-FFF2-40B4-BE49-F238E27FC236}">
                  <a16:creationId xmlns:a16="http://schemas.microsoft.com/office/drawing/2014/main" id="{13DF141D-3279-488F-8298-C661DB016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21634" y="3691588"/>
              <a:ext cx="1886213" cy="219106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63" name="TextBox 4">
              <a:extLst>
                <a:ext uri="{FF2B5EF4-FFF2-40B4-BE49-F238E27FC236}">
                  <a16:creationId xmlns:a16="http://schemas.microsoft.com/office/drawing/2014/main" id="{FD12C896-D6A7-4310-8723-6ACE71861579}"/>
                </a:ext>
              </a:extLst>
            </p:cNvPr>
            <p:cNvSpPr txBox="1"/>
            <p:nvPr/>
          </p:nvSpPr>
          <p:spPr>
            <a:xfrm>
              <a:off x="1975962" y="3050504"/>
              <a:ext cx="8240076" cy="2462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r>
                <a:rPr lang="es-ES" sz="1600" dirty="0"/>
                <a:t>Un bloque de caché que contiene los campos datos (array </a:t>
              </a:r>
              <a:r>
                <a:rPr lang="es-ES" sz="1600" dirty="0" err="1"/>
                <a:t>tamanoBloque</a:t>
              </a:r>
              <a:r>
                <a:rPr lang="es-ES" sz="1600" dirty="0"/>
                <a:t>), tag, </a:t>
              </a:r>
              <a:r>
                <a:rPr lang="es-ES" sz="1600" dirty="0" err="1"/>
                <a:t>ultimoUso</a:t>
              </a:r>
              <a:r>
                <a:rPr lang="es-ES" sz="1600" dirty="0"/>
                <a:t> y valido.</a:t>
              </a:r>
              <a:endParaRPr sz="1050" b="0" i="0" u="none" dirty="0">
                <a:latin typeface="Poppins"/>
              </a:endParaRPr>
            </a:p>
          </p:txBody>
        </p:sp>
        <p:pic>
          <p:nvPicPr>
            <p:cNvPr id="64" name="Picture 21" descr="image.png">
              <a:extLst>
                <a:ext uri="{FF2B5EF4-FFF2-40B4-BE49-F238E27FC236}">
                  <a16:creationId xmlns:a16="http://schemas.microsoft.com/office/drawing/2014/main" id="{53D3EADB-31CC-421F-986A-C1FE1A0AA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757610" y="3058213"/>
              <a:ext cx="171450" cy="200025"/>
            </a:xfrm>
            <a:prstGeom prst="rect">
              <a:avLst/>
            </a:prstGeom>
          </p:spPr>
        </p:pic>
        <p:cxnSp>
          <p:nvCxnSpPr>
            <p:cNvPr id="65" name="Conector: angular 64">
              <a:extLst>
                <a:ext uri="{FF2B5EF4-FFF2-40B4-BE49-F238E27FC236}">
                  <a16:creationId xmlns:a16="http://schemas.microsoft.com/office/drawing/2014/main" id="{E992F2CC-BEA4-4E66-9047-10664838DE5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091246" y="3359847"/>
              <a:ext cx="318631" cy="184300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2D61CB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>
            <a:extLst>
              <a:ext uri="{FF2B5EF4-FFF2-40B4-BE49-F238E27FC236}">
                <a16:creationId xmlns:a16="http://schemas.microsoft.com/office/drawing/2014/main" id="{6A29CC59-D764-4E4E-8FA4-573EFD70860A}"/>
              </a:ext>
            </a:extLst>
          </p:cNvPr>
          <p:cNvGrpSpPr/>
          <p:nvPr/>
        </p:nvGrpSpPr>
        <p:grpSpPr>
          <a:xfrm>
            <a:off x="2355379" y="3612087"/>
            <a:ext cx="7268589" cy="2816434"/>
            <a:chOff x="4524421" y="3708488"/>
            <a:chExt cx="7268589" cy="2816434"/>
          </a:xfrm>
        </p:grpSpPr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7FE05CE1-91B1-4DC1-80E0-89FE582E0EC6}"/>
                </a:ext>
              </a:extLst>
            </p:cNvPr>
            <p:cNvGrpSpPr/>
            <p:nvPr/>
          </p:nvGrpSpPr>
          <p:grpSpPr>
            <a:xfrm>
              <a:off x="6478060" y="3708488"/>
              <a:ext cx="5314950" cy="1573246"/>
              <a:chOff x="590550" y="2914650"/>
              <a:chExt cx="5314950" cy="1573246"/>
            </a:xfrm>
          </p:grpSpPr>
          <p:sp>
            <p:nvSpPr>
              <p:cNvPr id="3" name="TextBox 3">
                <a:extLst>
                  <a:ext uri="{FF2B5EF4-FFF2-40B4-BE49-F238E27FC236}">
                    <a16:creationId xmlns:a16="http://schemas.microsoft.com/office/drawing/2014/main" id="{2B8A60F4-BE86-4392-B229-AC8E592B8B0A}"/>
                  </a:ext>
                </a:extLst>
              </p:cNvPr>
              <p:cNvSpPr txBox="1"/>
              <p:nvPr/>
            </p:nvSpPr>
            <p:spPr>
              <a:xfrm>
                <a:off x="923925" y="2914650"/>
                <a:ext cx="4981575" cy="514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just">
                  <a:lnSpc>
                    <a:spcPts val="2025"/>
                  </a:lnSpc>
                </a:pPr>
                <a:r>
                  <a:rPr sz="1400" b="1" i="0" u="none" dirty="0" err="1"/>
                  <a:t>Índice</a:t>
                </a:r>
                <a:r>
                  <a:rPr sz="1400" b="1" i="0" u="none" dirty="0"/>
                  <a:t>:</a:t>
                </a:r>
                <a:r>
                  <a:rPr sz="1400" b="0" i="0" u="none" dirty="0"/>
                  <a:t> </a:t>
                </a:r>
                <a:r>
                  <a:rPr sz="1400" b="0" i="0" u="none" dirty="0" err="1"/>
                  <a:t>Determina</a:t>
                </a:r>
                <a:r>
                  <a:rPr sz="1400" b="0" i="0" u="none" dirty="0"/>
                  <a:t> el conjunto de </a:t>
                </a:r>
                <a:r>
                  <a:rPr sz="1400" b="0" i="0" u="none" dirty="0" err="1"/>
                  <a:t>destino</a:t>
                </a:r>
                <a:r>
                  <a:rPr sz="1400" b="0" i="0" u="none" dirty="0"/>
                  <a:t> dentro de la </a:t>
                </a:r>
                <a:r>
                  <a:rPr sz="1400" b="0" i="0" u="none" dirty="0" err="1"/>
                  <a:t>memoria</a:t>
                </a:r>
                <a:r>
                  <a:rPr sz="1400" b="0" i="0" u="none" dirty="0"/>
                  <a:t> </a:t>
                </a:r>
                <a:r>
                  <a:rPr sz="1400" b="0" i="0" u="none" dirty="0" err="1"/>
                  <a:t>caché</a:t>
                </a:r>
                <a:endParaRPr sz="1400" b="0" i="0" u="none" dirty="0"/>
              </a:p>
            </p:txBody>
          </p:sp>
          <p:sp>
            <p:nvSpPr>
              <p:cNvPr id="4" name="TextBox 4">
                <a:extLst>
                  <a:ext uri="{FF2B5EF4-FFF2-40B4-BE49-F238E27FC236}">
                    <a16:creationId xmlns:a16="http://schemas.microsoft.com/office/drawing/2014/main" id="{D2375F9F-1B10-4A80-BF2B-A8D5497F1FA6}"/>
                  </a:ext>
                </a:extLst>
              </p:cNvPr>
              <p:cNvSpPr txBox="1"/>
              <p:nvPr/>
            </p:nvSpPr>
            <p:spPr>
              <a:xfrm>
                <a:off x="923925" y="3581400"/>
                <a:ext cx="4981575" cy="514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just">
                  <a:lnSpc>
                    <a:spcPts val="2025"/>
                  </a:lnSpc>
                </a:pPr>
                <a:r>
                  <a:rPr sz="1400" b="1" i="0" u="none" dirty="0"/>
                  <a:t>Tag (</a:t>
                </a:r>
                <a:r>
                  <a:rPr sz="1400" b="1" i="0" u="none" dirty="0" err="1"/>
                  <a:t>Etiqueta</a:t>
                </a:r>
                <a:r>
                  <a:rPr sz="1400" b="1" i="0" u="none" dirty="0"/>
                  <a:t>):</a:t>
                </a:r>
                <a:r>
                  <a:rPr sz="1400" b="0" i="0" u="none" dirty="0"/>
                  <a:t> </a:t>
                </a:r>
                <a:r>
                  <a:rPr sz="1400" b="0" i="0" u="none" dirty="0" err="1"/>
                  <a:t>Identifica</a:t>
                </a:r>
                <a:r>
                  <a:rPr sz="1400" b="0" i="0" u="none" dirty="0"/>
                  <a:t> de forma </a:t>
                </a:r>
                <a:r>
                  <a:rPr sz="1400" b="0" i="0" u="none" dirty="0" err="1"/>
                  <a:t>unívoca</a:t>
                </a:r>
                <a:r>
                  <a:rPr sz="1400" b="0" i="0" u="none" dirty="0"/>
                  <a:t> el </a:t>
                </a:r>
                <a:r>
                  <a:rPr sz="1400" b="0" i="0" u="none" dirty="0" err="1"/>
                  <a:t>bloque</a:t>
                </a:r>
                <a:r>
                  <a:rPr sz="1400" b="0" i="0" u="none" dirty="0"/>
                  <a:t> </a:t>
                </a:r>
                <a:r>
                  <a:rPr sz="1400" b="0" i="0" u="none" dirty="0" err="1"/>
                  <a:t>en</a:t>
                </a:r>
                <a:r>
                  <a:rPr sz="1400" b="0" i="0" u="none" dirty="0"/>
                  <a:t> la </a:t>
                </a:r>
                <a:r>
                  <a:rPr sz="1400" b="0" i="0" u="none" dirty="0" err="1"/>
                  <a:t>memoria</a:t>
                </a:r>
                <a:r>
                  <a:rPr sz="1400" b="0" i="0" u="none" dirty="0"/>
                  <a:t> principal</a:t>
                </a:r>
              </a:p>
            </p:txBody>
          </p:sp>
          <p:sp>
            <p:nvSpPr>
              <p:cNvPr id="5" name="TextBox 5">
                <a:extLst>
                  <a:ext uri="{FF2B5EF4-FFF2-40B4-BE49-F238E27FC236}">
                    <a16:creationId xmlns:a16="http://schemas.microsoft.com/office/drawing/2014/main" id="{712E5271-DB84-4F0D-A85E-B222111F0213}"/>
                  </a:ext>
                </a:extLst>
              </p:cNvPr>
              <p:cNvSpPr txBox="1"/>
              <p:nvPr/>
            </p:nvSpPr>
            <p:spPr>
              <a:xfrm>
                <a:off x="923925" y="4248150"/>
                <a:ext cx="4981575" cy="23974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just">
                  <a:lnSpc>
                    <a:spcPts val="2025"/>
                  </a:lnSpc>
                </a:pPr>
                <a:r>
                  <a:rPr sz="1400" b="1" i="0" u="none" dirty="0"/>
                  <a:t>Offset:</a:t>
                </a:r>
                <a:r>
                  <a:rPr sz="1400" b="0" i="0" u="none" dirty="0"/>
                  <a:t> </a:t>
                </a:r>
                <a:r>
                  <a:rPr sz="1400" b="0" i="0" u="none" dirty="0" err="1"/>
                  <a:t>Selecciona</a:t>
                </a:r>
                <a:r>
                  <a:rPr sz="1400" b="0" i="0" u="none" dirty="0"/>
                  <a:t> la palabra exacta dentro del </a:t>
                </a:r>
                <a:r>
                  <a:rPr sz="1400" b="0" i="0" u="none" dirty="0" err="1"/>
                  <a:t>bloque</a:t>
                </a:r>
                <a:r>
                  <a:rPr sz="1400" b="0" i="0" u="none" dirty="0"/>
                  <a:t> de </a:t>
                </a:r>
                <a:r>
                  <a:rPr sz="1400" b="0" i="0" u="none" dirty="0" err="1"/>
                  <a:t>datos</a:t>
                </a:r>
                <a:r>
                  <a:rPr lang="es-VE" sz="1400" b="0" i="0" u="none" dirty="0"/>
                  <a:t>.</a:t>
                </a:r>
                <a:endParaRPr sz="1400" b="0" i="0" u="none" dirty="0"/>
              </a:p>
            </p:txBody>
          </p:sp>
          <p:pic>
            <p:nvPicPr>
              <p:cNvPr id="6" name="Picture 20" descr="image.png">
                <a:extLst>
                  <a:ext uri="{FF2B5EF4-FFF2-40B4-BE49-F238E27FC236}">
                    <a16:creationId xmlns:a16="http://schemas.microsoft.com/office/drawing/2014/main" id="{26F8334D-CF63-40EF-BAD7-B9F0E5B012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590550" y="2947987"/>
                <a:ext cx="142875" cy="200025"/>
              </a:xfrm>
              <a:prstGeom prst="rect">
                <a:avLst/>
              </a:prstGeom>
            </p:spPr>
          </p:pic>
          <p:pic>
            <p:nvPicPr>
              <p:cNvPr id="7" name="Picture 21" descr="image.png">
                <a:extLst>
                  <a:ext uri="{FF2B5EF4-FFF2-40B4-BE49-F238E27FC236}">
                    <a16:creationId xmlns:a16="http://schemas.microsoft.com/office/drawing/2014/main" id="{F5223B56-EA07-43CF-96BA-57E0278B4E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590550" y="3614737"/>
                <a:ext cx="171450" cy="200025"/>
              </a:xfrm>
              <a:prstGeom prst="rect">
                <a:avLst/>
              </a:prstGeom>
            </p:spPr>
          </p:pic>
          <p:pic>
            <p:nvPicPr>
              <p:cNvPr id="8" name="Picture 22" descr="image.png">
                <a:extLst>
                  <a:ext uri="{FF2B5EF4-FFF2-40B4-BE49-F238E27FC236}">
                    <a16:creationId xmlns:a16="http://schemas.microsoft.com/office/drawing/2014/main" id="{F5A30F45-C8F0-4733-A185-131ADB9C76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590550" y="4281487"/>
                <a:ext cx="190500" cy="200025"/>
              </a:xfrm>
              <a:prstGeom prst="rect">
                <a:avLst/>
              </a:prstGeom>
            </p:spPr>
          </p:pic>
        </p:grp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BBF718D2-6D35-4BD3-87AC-5BF06C8C9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24421" y="5629447"/>
              <a:ext cx="7268589" cy="895475"/>
            </a:xfrm>
            <a:prstGeom prst="rect">
              <a:avLst/>
            </a:prstGeom>
          </p:spPr>
        </p:pic>
        <p:cxnSp>
          <p:nvCxnSpPr>
            <p:cNvPr id="10" name="Conector: angular 9">
              <a:extLst>
                <a:ext uri="{FF2B5EF4-FFF2-40B4-BE49-F238E27FC236}">
                  <a16:creationId xmlns:a16="http://schemas.microsoft.com/office/drawing/2014/main" id="{79131B13-206B-4C7B-8965-E692AB108CB5}"/>
                </a:ext>
              </a:extLst>
            </p:cNvPr>
            <p:cNvCxnSpPr/>
            <p:nvPr/>
          </p:nvCxnSpPr>
          <p:spPr>
            <a:xfrm rot="5400000">
              <a:off x="5503427" y="4893827"/>
              <a:ext cx="596812" cy="588335"/>
            </a:xfrm>
            <a:prstGeom prst="bentConnector3">
              <a:avLst/>
            </a:prstGeom>
            <a:ln w="19050" cap="flat" cmpd="sng" algn="ctr">
              <a:solidFill>
                <a:srgbClr val="2D61CB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975CD245-5237-4D16-AA35-CD66B4825EEA}"/>
              </a:ext>
            </a:extLst>
          </p:cNvPr>
          <p:cNvGrpSpPr/>
          <p:nvPr/>
        </p:nvGrpSpPr>
        <p:grpSpPr>
          <a:xfrm>
            <a:off x="1318705" y="1406810"/>
            <a:ext cx="4039836" cy="1075334"/>
            <a:chOff x="1191379" y="1338924"/>
            <a:chExt cx="4039836" cy="1075334"/>
          </a:xfrm>
        </p:grpSpPr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86A94293-23D3-46F5-B3F2-D31BB642CECC}"/>
                </a:ext>
              </a:extLst>
            </p:cNvPr>
            <p:cNvSpPr txBox="1"/>
            <p:nvPr/>
          </p:nvSpPr>
          <p:spPr>
            <a:xfrm>
              <a:off x="1191379" y="1338924"/>
              <a:ext cx="4039836" cy="4308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s-VE" sz="1400" dirty="0"/>
                <a:t>Una matriz de vector </a:t>
              </a:r>
              <a:r>
                <a:rPr lang="es-ES" sz="1400" dirty="0"/>
                <a:t>donde cada fila (conjunto) contiene un vector de líneas (</a:t>
              </a:r>
              <a:r>
                <a:rPr lang="es-ES" sz="1400" u="sng" dirty="0"/>
                <a:t>vías</a:t>
              </a:r>
              <a:r>
                <a:rPr lang="es-ES" sz="1400" dirty="0"/>
                <a:t>)</a:t>
              </a:r>
              <a:endParaRPr sz="1000" b="0" i="0" u="none" dirty="0">
                <a:latin typeface="Poppins"/>
              </a:endParaRPr>
            </a:p>
          </p:txBody>
        </p:sp>
        <p:cxnSp>
          <p:nvCxnSpPr>
            <p:cNvPr id="13" name="Conector: angular 12">
              <a:extLst>
                <a:ext uri="{FF2B5EF4-FFF2-40B4-BE49-F238E27FC236}">
                  <a16:creationId xmlns:a16="http://schemas.microsoft.com/office/drawing/2014/main" id="{52604B20-B2A0-4730-8F02-A9873B72346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970203" y="1882131"/>
              <a:ext cx="318631" cy="184300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2D61CB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4" name="Picture 21" descr="image.png">
              <a:extLst>
                <a:ext uri="{FF2B5EF4-FFF2-40B4-BE49-F238E27FC236}">
                  <a16:creationId xmlns:a16="http://schemas.microsoft.com/office/drawing/2014/main" id="{666311F5-896D-474A-BB06-218611369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268227" y="1454354"/>
              <a:ext cx="171450" cy="200025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888FA92D-4B02-4246-92FF-17BD52308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47504" y="2180028"/>
              <a:ext cx="3783711" cy="234230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EA2A505F-7C38-467D-86DC-449234360F37}"/>
              </a:ext>
            </a:extLst>
          </p:cNvPr>
          <p:cNvGrpSpPr/>
          <p:nvPr/>
        </p:nvGrpSpPr>
        <p:grpSpPr>
          <a:xfrm>
            <a:off x="6878923" y="1804156"/>
            <a:ext cx="4756980" cy="1087255"/>
            <a:chOff x="7231874" y="1675721"/>
            <a:chExt cx="4756980" cy="1087255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2996DF79-44E9-406C-9727-5F7993A4B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231874" y="2573802"/>
              <a:ext cx="2486288" cy="189174"/>
            </a:xfrm>
            <a:prstGeom prst="roundRect">
              <a:avLst>
                <a:gd name="adj" fmla="val 16667"/>
              </a:avLst>
            </a:prstGeom>
            <a:ln>
              <a:noFill/>
            </a:ln>
            <a:effectLst>
              <a:outerShdw blurRad="76200" dist="38100" dir="78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bevelT w="381000" h="114300" prst="relaxedInset"/>
              <a:contourClr>
                <a:srgbClr val="969696"/>
              </a:contourClr>
            </a:sp3d>
          </p:spPr>
        </p:pic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016FAB18-0CBE-4C73-B526-7C578F9DD4E1}"/>
                </a:ext>
              </a:extLst>
            </p:cNvPr>
            <p:cNvSpPr txBox="1"/>
            <p:nvPr/>
          </p:nvSpPr>
          <p:spPr>
            <a:xfrm>
              <a:off x="7949018" y="1675721"/>
              <a:ext cx="4039836" cy="4308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lang="es-ES" sz="1400" dirty="0"/>
                <a:t>Arreglo dinámico para almacenar las direcciones</a:t>
              </a:r>
            </a:p>
            <a:p>
              <a:pPr algn="ctr"/>
              <a:r>
                <a:rPr lang="es-VE" sz="1400" dirty="0"/>
                <a:t>ingresadas por el usuario</a:t>
              </a:r>
              <a:endParaRPr sz="800" b="0" i="0" u="none" dirty="0">
                <a:latin typeface="Poppins"/>
              </a:endParaRPr>
            </a:p>
          </p:txBody>
        </p:sp>
        <p:cxnSp>
          <p:nvCxnSpPr>
            <p:cNvPr id="18" name="Conector: angular 17">
              <a:extLst>
                <a:ext uri="{FF2B5EF4-FFF2-40B4-BE49-F238E27FC236}">
                  <a16:creationId xmlns:a16="http://schemas.microsoft.com/office/drawing/2014/main" id="{EF4005FF-2E4E-4F66-8EE6-FA18A78404F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465872" y="2233080"/>
              <a:ext cx="302561" cy="202017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2D61CB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9" name="Picture 21" descr="image.png">
              <a:extLst>
                <a:ext uri="{FF2B5EF4-FFF2-40B4-BE49-F238E27FC236}">
                  <a16:creationId xmlns:a16="http://schemas.microsoft.com/office/drawing/2014/main" id="{3E40BB63-081E-4555-A185-0971B9FEC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949018" y="1822197"/>
              <a:ext cx="171450" cy="2000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235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86443F0E-9796-401B-8114-C8ED40BA7E72}"/>
              </a:ext>
            </a:extLst>
          </p:cNvPr>
          <p:cNvGrpSpPr/>
          <p:nvPr/>
        </p:nvGrpSpPr>
        <p:grpSpPr>
          <a:xfrm>
            <a:off x="787878" y="2228263"/>
            <a:ext cx="5505450" cy="2607289"/>
            <a:chOff x="590550" y="2105025"/>
            <a:chExt cx="5314950" cy="2607289"/>
          </a:xfrm>
        </p:grpSpPr>
        <p:sp>
          <p:nvSpPr>
            <p:cNvPr id="5" name="TextBox 4"/>
            <p:cNvSpPr txBox="1"/>
            <p:nvPr/>
          </p:nvSpPr>
          <p:spPr>
            <a:xfrm>
              <a:off x="923925" y="2105025"/>
              <a:ext cx="4981575" cy="502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just">
                <a:lnSpc>
                  <a:spcPts val="2025"/>
                </a:lnSpc>
              </a:pPr>
              <a:r>
                <a:rPr sz="1600" b="1" i="0" u="none" dirty="0">
                  <a:solidFill>
                    <a:srgbClr val="002060"/>
                  </a:solidFill>
                  <a:latin typeface="Poppins"/>
                </a:rPr>
                <a:t>¿</a:t>
              </a:r>
              <a:r>
                <a:rPr sz="1600" b="1" i="0" u="none" dirty="0" err="1">
                  <a:solidFill>
                    <a:srgbClr val="002060"/>
                  </a:solidFill>
                  <a:latin typeface="Poppins"/>
                </a:rPr>
                <a:t>Qué</a:t>
              </a:r>
              <a:r>
                <a:rPr sz="1600" b="1" i="0" u="none" dirty="0">
                  <a:solidFill>
                    <a:srgbClr val="002060"/>
                  </a:solidFill>
                  <a:latin typeface="Poppins"/>
                </a:rPr>
                <a:t> es LRU (Least Recently Used)?</a:t>
              </a:r>
              <a:r>
                <a:rPr sz="1600" b="0" i="0" u="none" dirty="0">
                  <a:solidFill>
                    <a:srgbClr val="002060"/>
                  </a:solidFill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Política</a:t>
              </a:r>
              <a:r>
                <a:rPr sz="1600" b="0" i="0" u="none" dirty="0">
                  <a:latin typeface="Poppins"/>
                </a:rPr>
                <a:t> de </a:t>
              </a:r>
              <a:r>
                <a:rPr sz="1600" b="0" i="0" u="none" dirty="0" err="1">
                  <a:latin typeface="Poppins"/>
                </a:rPr>
                <a:t>reemplazo</a:t>
              </a:r>
              <a:r>
                <a:rPr sz="1600" b="0" i="0" u="none" dirty="0">
                  <a:latin typeface="Poppins"/>
                </a:rPr>
                <a:t> que </a:t>
              </a:r>
              <a:r>
                <a:rPr sz="1600" b="0" i="0" u="none" dirty="0" err="1">
                  <a:latin typeface="Poppins"/>
                </a:rPr>
                <a:t>expulsa</a:t>
              </a:r>
              <a:r>
                <a:rPr sz="1600" b="0" i="0" u="none" dirty="0">
                  <a:latin typeface="Poppins"/>
                </a:rPr>
                <a:t> la </a:t>
              </a:r>
              <a:r>
                <a:rPr sz="1600" b="0" i="0" u="none" dirty="0" err="1">
                  <a:latin typeface="Poppins"/>
                </a:rPr>
                <a:t>línea</a:t>
              </a:r>
              <a:r>
                <a:rPr sz="1600" b="0" i="0" u="none" dirty="0">
                  <a:latin typeface="Poppins"/>
                </a:rPr>
                <a:t> que </a:t>
              </a:r>
              <a:r>
                <a:rPr sz="1600" b="0" i="0" u="none" dirty="0" err="1">
                  <a:latin typeface="Poppins"/>
                </a:rPr>
                <a:t>lleva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más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tiempo</a:t>
              </a:r>
              <a:r>
                <a:rPr sz="1600" b="0" i="0" u="none" dirty="0">
                  <a:latin typeface="Poppins"/>
                </a:rPr>
                <a:t> sin </a:t>
              </a:r>
              <a:r>
                <a:rPr sz="1600" b="0" i="0" u="none" dirty="0" err="1">
                  <a:latin typeface="Poppins"/>
                </a:rPr>
                <a:t>recibir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accesos</a:t>
              </a:r>
              <a:endParaRPr sz="1600" b="0" i="0" u="none" dirty="0">
                <a:latin typeface="Poppins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3925" y="3028950"/>
              <a:ext cx="4981575" cy="502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just">
                <a:lnSpc>
                  <a:spcPts val="2025"/>
                </a:lnSpc>
              </a:pPr>
              <a:r>
                <a:rPr sz="1600" b="1" i="0" u="none" dirty="0">
                  <a:solidFill>
                    <a:srgbClr val="002060"/>
                  </a:solidFill>
                  <a:latin typeface="Poppins"/>
                </a:rPr>
                <a:t>Control temporal:</a:t>
              </a:r>
              <a:r>
                <a:rPr sz="1600" b="0" i="0" u="none" dirty="0">
                  <a:solidFill>
                    <a:srgbClr val="002060"/>
                  </a:solidFill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Cada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línea</a:t>
              </a:r>
              <a:r>
                <a:rPr sz="1600" b="0" i="0" u="none" dirty="0">
                  <a:latin typeface="Poppins"/>
                </a:rPr>
                <a:t> de </a:t>
              </a:r>
              <a:r>
                <a:rPr sz="1600" b="0" i="0" u="none" dirty="0" err="1">
                  <a:latin typeface="Poppins"/>
                </a:rPr>
                <a:t>caché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incluye</a:t>
              </a:r>
              <a:r>
                <a:rPr sz="1600" b="0" i="0" u="none" dirty="0">
                  <a:latin typeface="Poppins"/>
                </a:rPr>
                <a:t> un </a:t>
              </a:r>
              <a:r>
                <a:rPr sz="1600" b="0" i="0" u="none" dirty="0" err="1">
                  <a:latin typeface="Poppins"/>
                </a:rPr>
                <a:t>contador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ultimoUso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actualizado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en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cada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acierto</a:t>
              </a:r>
              <a:r>
                <a:rPr sz="1600" b="0" i="0" u="none" dirty="0">
                  <a:latin typeface="Poppins"/>
                </a:rPr>
                <a:t> o </a:t>
              </a:r>
              <a:r>
                <a:rPr sz="1600" b="0" i="0" u="none" dirty="0" err="1">
                  <a:latin typeface="Poppins"/>
                </a:rPr>
                <a:t>carga</a:t>
              </a:r>
              <a:endParaRPr sz="1600" b="0" i="0" u="none" dirty="0">
                <a:latin typeface="Poppins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3925" y="3952875"/>
              <a:ext cx="4981575" cy="7594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just">
                <a:lnSpc>
                  <a:spcPts val="2025"/>
                </a:lnSpc>
              </a:pPr>
              <a:r>
                <a:rPr sz="1600" b="1" i="0" u="none" dirty="0" err="1">
                  <a:solidFill>
                    <a:srgbClr val="002060"/>
                  </a:solidFill>
                  <a:latin typeface="Poppins"/>
                </a:rPr>
                <a:t>Gestión</a:t>
              </a:r>
              <a:r>
                <a:rPr sz="1600" b="1" i="0" u="none" dirty="0">
                  <a:solidFill>
                    <a:srgbClr val="002060"/>
                  </a:solidFill>
                  <a:latin typeface="Poppins"/>
                </a:rPr>
                <a:t> de </a:t>
              </a:r>
              <a:r>
                <a:rPr sz="1600" b="1" i="0" u="none" dirty="0" err="1">
                  <a:solidFill>
                    <a:srgbClr val="002060"/>
                  </a:solidFill>
                  <a:latin typeface="Poppins"/>
                </a:rPr>
                <a:t>fallos</a:t>
              </a:r>
              <a:r>
                <a:rPr sz="1600" b="1" i="0" u="none" dirty="0">
                  <a:solidFill>
                    <a:srgbClr val="002060"/>
                  </a:solidFill>
                  <a:latin typeface="Poppins"/>
                </a:rPr>
                <a:t>:</a:t>
              </a:r>
              <a:r>
                <a:rPr sz="1600" b="0" i="0" u="none" dirty="0">
                  <a:solidFill>
                    <a:srgbClr val="002060"/>
                  </a:solidFill>
                  <a:latin typeface="Poppins"/>
                </a:rPr>
                <a:t> </a:t>
              </a:r>
              <a:r>
                <a:rPr sz="1600" b="0" i="0" u="none" dirty="0">
                  <a:latin typeface="Poppins"/>
                </a:rPr>
                <a:t>Ante un </a:t>
              </a:r>
              <a:r>
                <a:rPr sz="1600" b="0" i="0" u="none" dirty="0" err="1">
                  <a:latin typeface="Poppins"/>
                </a:rPr>
                <a:t>fallo</a:t>
              </a:r>
              <a:r>
                <a:rPr sz="1600" b="0" i="0" u="none" dirty="0">
                  <a:latin typeface="Poppins"/>
                </a:rPr>
                <a:t> de </a:t>
              </a:r>
              <a:r>
                <a:rPr sz="1600" b="0" i="0" u="none" dirty="0" err="1">
                  <a:latin typeface="Poppins"/>
                </a:rPr>
                <a:t>caché</a:t>
              </a:r>
              <a:r>
                <a:rPr sz="1600" b="0" i="0" u="none" dirty="0">
                  <a:latin typeface="Poppins"/>
                </a:rPr>
                <a:t> sin </a:t>
              </a:r>
              <a:r>
                <a:rPr sz="1600" b="0" i="0" u="none" dirty="0" err="1">
                  <a:latin typeface="Poppins"/>
                </a:rPr>
                <a:t>líneas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libres</a:t>
              </a:r>
              <a:r>
                <a:rPr sz="1600" b="0" i="0" u="none" dirty="0">
                  <a:latin typeface="Poppins"/>
                </a:rPr>
                <a:t>, se </a:t>
              </a:r>
              <a:r>
                <a:rPr sz="1600" b="0" i="0" u="none" dirty="0" err="1">
                  <a:latin typeface="Poppins"/>
                </a:rPr>
                <a:t>selecciona</a:t>
              </a:r>
              <a:r>
                <a:rPr sz="1600" b="0" i="0" u="none" dirty="0">
                  <a:latin typeface="Poppins"/>
                </a:rPr>
                <a:t> y </a:t>
              </a:r>
              <a:r>
                <a:rPr sz="1600" b="0" i="0" u="none" dirty="0" err="1">
                  <a:latin typeface="Poppins"/>
                </a:rPr>
                <a:t>reemplaza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automáticamente</a:t>
              </a:r>
              <a:r>
                <a:rPr sz="1600" b="0" i="0" u="none" dirty="0">
                  <a:latin typeface="Poppins"/>
                </a:rPr>
                <a:t> la de </a:t>
              </a:r>
              <a:r>
                <a:rPr sz="1600" b="0" i="0" u="none" dirty="0" err="1">
                  <a:latin typeface="Poppins"/>
                </a:rPr>
                <a:t>menor</a:t>
              </a:r>
              <a:r>
                <a:rPr sz="1600" b="0" i="0" u="none" dirty="0">
                  <a:latin typeface="Poppins"/>
                </a:rPr>
                <a:t> valor de </a:t>
              </a:r>
              <a:r>
                <a:rPr sz="1600" b="0" i="0" u="none" dirty="0" err="1">
                  <a:latin typeface="Poppins"/>
                </a:rPr>
                <a:t>uso</a:t>
              </a:r>
              <a:endParaRPr sz="1600" b="0" i="0" u="none" dirty="0">
                <a:latin typeface="Poppins"/>
              </a:endParaRPr>
            </a:p>
          </p:txBody>
        </p:sp>
        <p:pic>
          <p:nvPicPr>
            <p:cNvPr id="8" name="Picture 7" descr="image.png"/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90550" y="2138362"/>
              <a:ext cx="190500" cy="200025"/>
            </a:xfrm>
            <a:prstGeom prst="rect">
              <a:avLst/>
            </a:prstGeom>
          </p:spPr>
        </p:pic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90550" y="3062287"/>
              <a:ext cx="190500" cy="200025"/>
            </a:xfrm>
            <a:prstGeom prst="rect">
              <a:avLst/>
            </a:prstGeom>
          </p:spPr>
        </p:pic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90550" y="3986212"/>
              <a:ext cx="190500" cy="200025"/>
            </a:xfrm>
            <a:prstGeom prst="rect">
              <a:avLst/>
            </a:prstGeom>
          </p:spPr>
        </p:pic>
      </p:grpSp>
      <p:sp>
        <p:nvSpPr>
          <p:cNvPr id="11" name="TextBox 10"/>
          <p:cNvSpPr txBox="1"/>
          <p:nvPr/>
        </p:nvSpPr>
        <p:spPr>
          <a:xfrm>
            <a:off x="590550" y="495300"/>
            <a:ext cx="1156144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200" b="1" i="0" u="none" dirty="0" err="1">
                <a:solidFill>
                  <a:srgbClr val="002060"/>
                </a:solidFill>
                <a:latin typeface="Poppins"/>
              </a:rPr>
              <a:t>Algoritmo</a:t>
            </a:r>
            <a:r>
              <a:rPr sz="3200" b="1" i="0" u="none" dirty="0">
                <a:solidFill>
                  <a:srgbClr val="002060"/>
                </a:solidFill>
                <a:latin typeface="Poppins"/>
              </a:rPr>
              <a:t> de </a:t>
            </a:r>
            <a:r>
              <a:rPr sz="3200" b="1" i="0" u="none" dirty="0" err="1">
                <a:solidFill>
                  <a:srgbClr val="002060"/>
                </a:solidFill>
                <a:latin typeface="Poppins"/>
              </a:rPr>
              <a:t>Reemplazo</a:t>
            </a:r>
            <a:r>
              <a:rPr sz="3200" b="1" i="0" u="none" dirty="0">
                <a:solidFill>
                  <a:srgbClr val="002060"/>
                </a:solidFill>
                <a:latin typeface="Poppins"/>
              </a:rPr>
              <a:t> LRU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2860E9F-5D3B-4190-9CFC-42B045AB9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272" y="2864464"/>
            <a:ext cx="5304825" cy="3315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EB7EC3D3-B106-4BC4-8F43-227CEB2D30E0}"/>
              </a:ext>
            </a:extLst>
          </p:cNvPr>
          <p:cNvGrpSpPr/>
          <p:nvPr/>
        </p:nvGrpSpPr>
        <p:grpSpPr>
          <a:xfrm>
            <a:off x="1302706" y="2884261"/>
            <a:ext cx="5676900" cy="2242486"/>
            <a:chOff x="590550" y="1881741"/>
            <a:chExt cx="5314950" cy="2242486"/>
          </a:xfrm>
        </p:grpSpPr>
        <p:sp>
          <p:nvSpPr>
            <p:cNvPr id="5" name="TextBox 4"/>
            <p:cNvSpPr txBox="1"/>
            <p:nvPr/>
          </p:nvSpPr>
          <p:spPr>
            <a:xfrm>
              <a:off x="923925" y="1881741"/>
              <a:ext cx="4981575" cy="502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just">
                <a:lnSpc>
                  <a:spcPts val="2025"/>
                </a:lnSpc>
              </a:pPr>
              <a:r>
                <a:rPr sz="1600" b="1" i="0" u="none" dirty="0" err="1">
                  <a:solidFill>
                    <a:srgbClr val="002060"/>
                  </a:solidFill>
                  <a:latin typeface="Poppins"/>
                </a:rPr>
                <a:t>Definición</a:t>
              </a:r>
              <a:r>
                <a:rPr sz="1600" b="1" i="0" u="none" dirty="0">
                  <a:solidFill>
                    <a:srgbClr val="002060"/>
                  </a:solidFill>
                  <a:latin typeface="Poppins"/>
                </a:rPr>
                <a:t>:</a:t>
              </a:r>
              <a:r>
                <a:rPr sz="1600" b="0" i="0" u="none" dirty="0">
                  <a:solidFill>
                    <a:srgbClr val="002060"/>
                  </a:solidFill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Técnica</a:t>
              </a:r>
              <a:r>
                <a:rPr sz="1600" b="0" i="0" u="none" dirty="0">
                  <a:latin typeface="Poppins"/>
                </a:rPr>
                <a:t> que </a:t>
              </a:r>
              <a:r>
                <a:rPr sz="1600" b="0" i="0" u="none" dirty="0" err="1">
                  <a:latin typeface="Poppins"/>
                </a:rPr>
                <a:t>carga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bloques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siguientes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en</a:t>
              </a:r>
              <a:r>
                <a:rPr sz="1600" b="0" i="0" u="none" dirty="0">
                  <a:latin typeface="Poppins"/>
                </a:rPr>
                <a:t> la </a:t>
              </a:r>
              <a:r>
                <a:rPr sz="1600" b="0" i="0" u="none" dirty="0" err="1">
                  <a:latin typeface="Poppins"/>
                </a:rPr>
                <a:t>caché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además</a:t>
              </a:r>
              <a:r>
                <a:rPr sz="1600" b="0" i="0" u="none" dirty="0">
                  <a:latin typeface="Poppins"/>
                </a:rPr>
                <a:t> del </a:t>
              </a:r>
              <a:r>
                <a:rPr sz="1600" b="0" i="0" u="none" dirty="0" err="1">
                  <a:latin typeface="Poppins"/>
                </a:rPr>
                <a:t>solicitado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originalmente</a:t>
              </a:r>
              <a:endParaRPr sz="1600" b="0" i="0" u="none" dirty="0">
                <a:latin typeface="Poppins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23925" y="2771775"/>
              <a:ext cx="4981575" cy="502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just">
                <a:lnSpc>
                  <a:spcPts val="2025"/>
                </a:lnSpc>
              </a:pPr>
              <a:r>
                <a:rPr sz="1600" b="1" i="0" u="none" dirty="0" err="1">
                  <a:solidFill>
                    <a:srgbClr val="002060"/>
                  </a:solidFill>
                  <a:latin typeface="Poppins"/>
                </a:rPr>
                <a:t>Localidad</a:t>
              </a:r>
              <a:r>
                <a:rPr sz="1600" b="1" i="0" u="none" dirty="0">
                  <a:solidFill>
                    <a:srgbClr val="002060"/>
                  </a:solidFill>
                  <a:latin typeface="Poppins"/>
                </a:rPr>
                <a:t> </a:t>
              </a:r>
              <a:r>
                <a:rPr sz="1600" b="1" i="0" u="none" dirty="0" err="1">
                  <a:solidFill>
                    <a:srgbClr val="002060"/>
                  </a:solidFill>
                  <a:latin typeface="Poppins"/>
                </a:rPr>
                <a:t>espacial</a:t>
              </a:r>
              <a:r>
                <a:rPr sz="1600" b="1" i="0" u="none" dirty="0">
                  <a:solidFill>
                    <a:srgbClr val="002060"/>
                  </a:solidFill>
                  <a:latin typeface="Poppins"/>
                </a:rPr>
                <a:t>:</a:t>
              </a:r>
              <a:r>
                <a:rPr sz="1600" b="0" i="0" u="none" dirty="0">
                  <a:solidFill>
                    <a:srgbClr val="002060"/>
                  </a:solidFill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Aprovecha</a:t>
              </a:r>
              <a:r>
                <a:rPr sz="1600" b="0" i="0" u="none" dirty="0">
                  <a:latin typeface="Poppins"/>
                </a:rPr>
                <a:t> el principio de que los </a:t>
              </a:r>
              <a:r>
                <a:rPr sz="1600" b="0" i="0" u="none" dirty="0" err="1">
                  <a:latin typeface="Poppins"/>
                </a:rPr>
                <a:t>programas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suelen</a:t>
              </a:r>
              <a:r>
                <a:rPr sz="1600" b="0" i="0" u="none" dirty="0">
                  <a:latin typeface="Poppins"/>
                </a:rPr>
                <a:t> acceder a </a:t>
              </a:r>
              <a:r>
                <a:rPr sz="1600" b="0" i="0" u="none" dirty="0" err="1">
                  <a:latin typeface="Poppins"/>
                </a:rPr>
                <a:t>instrucciones</a:t>
              </a:r>
              <a:r>
                <a:rPr sz="1600" b="0" i="0" u="none" dirty="0">
                  <a:latin typeface="Poppins"/>
                </a:rPr>
                <a:t> y </a:t>
              </a:r>
              <a:r>
                <a:rPr sz="1600" b="0" i="0" u="none" dirty="0" err="1">
                  <a:latin typeface="Poppins"/>
                </a:rPr>
                <a:t>datos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contiguos</a:t>
              </a:r>
              <a:endParaRPr sz="1600" b="0" i="0" u="none" dirty="0">
                <a:latin typeface="Poppins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23925" y="3621269"/>
              <a:ext cx="4981575" cy="50295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just">
                <a:lnSpc>
                  <a:spcPts val="2025"/>
                </a:lnSpc>
              </a:pPr>
              <a:r>
                <a:rPr sz="1600" b="1" i="0" u="none" dirty="0" err="1">
                  <a:solidFill>
                    <a:srgbClr val="002060"/>
                  </a:solidFill>
                  <a:latin typeface="Poppins"/>
                </a:rPr>
                <a:t>Configuración</a:t>
              </a:r>
              <a:r>
                <a:rPr sz="1600" b="1" i="0" u="none" dirty="0">
                  <a:solidFill>
                    <a:srgbClr val="002060"/>
                  </a:solidFill>
                  <a:latin typeface="Poppins"/>
                </a:rPr>
                <a:t> </a:t>
              </a:r>
              <a:r>
                <a:rPr sz="1600" b="1" i="0" u="none" dirty="0" err="1">
                  <a:solidFill>
                    <a:srgbClr val="002060"/>
                  </a:solidFill>
                  <a:latin typeface="Poppins"/>
                </a:rPr>
                <a:t>usada</a:t>
              </a:r>
              <a:r>
                <a:rPr sz="1600" b="1" i="0" u="none" dirty="0">
                  <a:solidFill>
                    <a:srgbClr val="002060"/>
                  </a:solidFill>
                  <a:latin typeface="Poppins"/>
                </a:rPr>
                <a:t>:</a:t>
              </a:r>
              <a:r>
                <a:rPr sz="1600" b="0" i="0" u="none" dirty="0">
                  <a:solidFill>
                    <a:srgbClr val="002060"/>
                  </a:solidFill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Precarga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evaluada</a:t>
              </a:r>
              <a:r>
                <a:rPr sz="1600" b="0" i="0" u="none" dirty="0">
                  <a:latin typeface="Poppins"/>
                </a:rPr>
                <a:t> de 1 </a:t>
              </a:r>
              <a:r>
                <a:rPr sz="1600" b="0" i="0" u="none" dirty="0" err="1">
                  <a:latin typeface="Poppins"/>
                </a:rPr>
                <a:t>bloque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adicional</a:t>
              </a:r>
              <a:r>
                <a:rPr sz="1600" b="0" i="0" u="none" dirty="0">
                  <a:latin typeface="Poppins"/>
                </a:rPr>
                <a:t> por </a:t>
              </a:r>
              <a:r>
                <a:rPr sz="1600" b="0" i="0" u="none" dirty="0" err="1">
                  <a:latin typeface="Poppins"/>
                </a:rPr>
                <a:t>cada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fallo</a:t>
              </a:r>
              <a:r>
                <a:rPr sz="1600" b="0" i="0" u="none" dirty="0">
                  <a:latin typeface="Poppins"/>
                </a:rPr>
                <a:t> </a:t>
              </a:r>
              <a:r>
                <a:rPr sz="1600" b="0" i="0" u="none" dirty="0" err="1">
                  <a:latin typeface="Poppins"/>
                </a:rPr>
                <a:t>detectado</a:t>
              </a:r>
              <a:endParaRPr sz="1600" b="0" i="0" u="none" dirty="0">
                <a:latin typeface="Poppins"/>
              </a:endParaRPr>
            </a:p>
          </p:txBody>
        </p:sp>
        <p:pic>
          <p:nvPicPr>
            <p:cNvPr id="8" name="Picture 7" descr="image.png"/>
            <p:cNvPicPr>
              <a:picLocks noChangeAspect="1"/>
            </p:cNvPicPr>
            <p:nvPr/>
          </p:nvPicPr>
          <p:blipFill>
            <a:blip r:embed="rId2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90550" y="1915078"/>
              <a:ext cx="190500" cy="200025"/>
            </a:xfrm>
            <a:prstGeom prst="rect">
              <a:avLst/>
            </a:prstGeom>
          </p:spPr>
        </p:pic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90550" y="2805112"/>
              <a:ext cx="190500" cy="200025"/>
            </a:xfrm>
            <a:prstGeom prst="rect">
              <a:avLst/>
            </a:prstGeom>
          </p:spPr>
        </p:pic>
        <p:pic>
          <p:nvPicPr>
            <p:cNvPr id="10" name="Picture 9" descr="image.png"/>
            <p:cNvPicPr>
              <a:picLocks noChangeAspect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90550" y="3654606"/>
              <a:ext cx="190500" cy="200025"/>
            </a:xfrm>
            <a:prstGeom prst="rect">
              <a:avLst/>
            </a:prstGeom>
          </p:spPr>
        </p:pic>
      </p:grpSp>
      <p:sp>
        <p:nvSpPr>
          <p:cNvPr id="11" name="TextBox 10"/>
          <p:cNvSpPr txBox="1"/>
          <p:nvPr/>
        </p:nvSpPr>
        <p:spPr>
          <a:xfrm>
            <a:off x="590550" y="495300"/>
            <a:ext cx="1156144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200" b="1" i="0" u="none" dirty="0">
                <a:solidFill>
                  <a:srgbClr val="002060"/>
                </a:solidFill>
                <a:latin typeface="Poppins"/>
              </a:rPr>
              <a:t>Prefetching: </a:t>
            </a:r>
            <a:r>
              <a:rPr lang="es-VE" sz="3200" b="1" i="0" u="none" dirty="0">
                <a:solidFill>
                  <a:srgbClr val="002060"/>
                </a:solidFill>
                <a:latin typeface="Poppins"/>
              </a:rPr>
              <a:t>Anticipo de Datos</a:t>
            </a:r>
            <a:endParaRPr sz="3200" b="1" i="0" u="none" dirty="0">
              <a:solidFill>
                <a:srgbClr val="002060"/>
              </a:solidFill>
              <a:latin typeface="Poppi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BA3CC25-7FAB-46DE-9D52-0F991FF847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037" y="1622707"/>
            <a:ext cx="2448267" cy="17433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716796E-2E7D-4238-A999-976AFC9D0D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683" y="3907644"/>
            <a:ext cx="3143689" cy="18385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237F45EC-FE6A-41CB-B4B8-53028321530B}"/>
              </a:ext>
            </a:extLst>
          </p:cNvPr>
          <p:cNvGrpSpPr/>
          <p:nvPr/>
        </p:nvGrpSpPr>
        <p:grpSpPr>
          <a:xfrm>
            <a:off x="1561149" y="2078821"/>
            <a:ext cx="9952973" cy="3599825"/>
            <a:chOff x="1335185" y="1683147"/>
            <a:chExt cx="9952973" cy="3599825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986B2654-2DCC-4BA0-8C16-48FE0FCF9DEB}"/>
                </a:ext>
              </a:extLst>
            </p:cNvPr>
            <p:cNvGrpSpPr/>
            <p:nvPr/>
          </p:nvGrpSpPr>
          <p:grpSpPr>
            <a:xfrm>
              <a:off x="1335185" y="1683147"/>
              <a:ext cx="9169782" cy="1508232"/>
              <a:chOff x="847725" y="2852351"/>
              <a:chExt cx="5024913" cy="1508232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310BAA-E1F5-4FD6-9CC4-A07E93391731}"/>
                  </a:ext>
                </a:extLst>
              </p:cNvPr>
              <p:cNvSpPr txBox="1"/>
              <p:nvPr/>
            </p:nvSpPr>
            <p:spPr>
              <a:xfrm>
                <a:off x="1162050" y="2852351"/>
                <a:ext cx="471058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b="1" i="0" u="none" dirty="0" err="1">
                    <a:solidFill>
                      <a:srgbClr val="002060"/>
                    </a:solidFill>
                    <a:latin typeface="Poppins"/>
                  </a:rPr>
                  <a:t>Organizaciones</a:t>
                </a:r>
                <a:r>
                  <a:rPr b="1" i="0" u="none" dirty="0">
                    <a:solidFill>
                      <a:srgbClr val="002060"/>
                    </a:solidFill>
                    <a:latin typeface="Poppins"/>
                  </a:rPr>
                  <a:t> </a:t>
                </a:r>
                <a:r>
                  <a:rPr b="1" i="0" u="none" dirty="0" err="1">
                    <a:solidFill>
                      <a:srgbClr val="002060"/>
                    </a:solidFill>
                    <a:latin typeface="Poppins"/>
                  </a:rPr>
                  <a:t>Implementadas</a:t>
                </a:r>
                <a:endParaRPr b="1" i="0" u="none" dirty="0">
                  <a:solidFill>
                    <a:srgbClr val="002060"/>
                  </a:solidFill>
                  <a:latin typeface="Poppins"/>
                </a:endParaRPr>
              </a:p>
            </p:txBody>
          </p:sp>
          <p:pic>
            <p:nvPicPr>
              <p:cNvPr id="6" name="Picture 6" descr="image.png">
                <a:extLst>
                  <a:ext uri="{FF2B5EF4-FFF2-40B4-BE49-F238E27FC236}">
                    <a16:creationId xmlns:a16="http://schemas.microsoft.com/office/drawing/2014/main" id="{E1279B6E-B085-4013-B708-5F1A8FCAF6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847725" y="2895600"/>
                <a:ext cx="219075" cy="190500"/>
              </a:xfrm>
              <a:prstGeom prst="rect">
                <a:avLst/>
              </a:prstGeom>
            </p:spPr>
          </p:pic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1237C5F2-DA9E-4D01-9D60-862782B6EDD6}"/>
                  </a:ext>
                </a:extLst>
              </p:cNvPr>
              <p:cNvSpPr txBox="1"/>
              <p:nvPr/>
            </p:nvSpPr>
            <p:spPr>
              <a:xfrm>
                <a:off x="971550" y="3248025"/>
                <a:ext cx="6667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600" b="0" i="0" u="none">
                    <a:latin typeface="Poppins"/>
                  </a:rPr>
                  <a:t>•</a:t>
                </a:r>
              </a:p>
            </p:txBody>
          </p:sp>
          <p:sp>
            <p:nvSpPr>
              <p:cNvPr id="8" name="TextBox 8">
                <a:extLst>
                  <a:ext uri="{FF2B5EF4-FFF2-40B4-BE49-F238E27FC236}">
                    <a16:creationId xmlns:a16="http://schemas.microsoft.com/office/drawing/2014/main" id="{7E4A4532-2192-4A7F-ADD7-1B322AC19174}"/>
                  </a:ext>
                </a:extLst>
              </p:cNvPr>
              <p:cNvSpPr txBox="1"/>
              <p:nvPr/>
            </p:nvSpPr>
            <p:spPr>
              <a:xfrm>
                <a:off x="1038225" y="3248025"/>
                <a:ext cx="4610100" cy="246478"/>
              </a:xfrm>
              <a:prstGeom prst="rect">
                <a:avLst/>
              </a:prstGeom>
              <a:noFill/>
            </p:spPr>
            <p:txBody>
              <a:bodyPr wrap="square" lIns="66675" tIns="0" rIns="0" bIns="0" anchor="t">
                <a:spAutoFit/>
              </a:bodyPr>
              <a:lstStyle/>
              <a:p>
                <a:pPr algn="l">
                  <a:lnSpc>
                    <a:spcPts val="2025"/>
                  </a:lnSpc>
                </a:pPr>
                <a:r>
                  <a:rPr sz="1600" b="1" i="0" u="none" dirty="0" err="1">
                    <a:solidFill>
                      <a:srgbClr val="002060"/>
                    </a:solidFill>
                    <a:latin typeface="Poppins"/>
                  </a:rPr>
                  <a:t>Mapeo</a:t>
                </a:r>
                <a:r>
                  <a:rPr sz="1600" b="1" i="0" u="none" dirty="0">
                    <a:solidFill>
                      <a:srgbClr val="002060"/>
                    </a:solidFill>
                    <a:latin typeface="Poppins"/>
                  </a:rPr>
                  <a:t> </a:t>
                </a:r>
                <a:r>
                  <a:rPr sz="1600" b="1" i="0" u="none" dirty="0" err="1">
                    <a:solidFill>
                      <a:srgbClr val="002060"/>
                    </a:solidFill>
                    <a:latin typeface="Poppins"/>
                  </a:rPr>
                  <a:t>Directo</a:t>
                </a:r>
                <a:r>
                  <a:rPr sz="1600" b="1" i="0" u="none" dirty="0">
                    <a:solidFill>
                      <a:srgbClr val="002060"/>
                    </a:solidFill>
                    <a:latin typeface="Poppins"/>
                  </a:rPr>
                  <a:t> (1 </a:t>
                </a:r>
                <a:r>
                  <a:rPr sz="1600" b="1" i="0" u="none" dirty="0" err="1">
                    <a:solidFill>
                      <a:srgbClr val="002060"/>
                    </a:solidFill>
                    <a:latin typeface="Poppins"/>
                  </a:rPr>
                  <a:t>vía</a:t>
                </a:r>
                <a:r>
                  <a:rPr sz="1600" b="1" i="0" u="none" dirty="0">
                    <a:solidFill>
                      <a:srgbClr val="002060"/>
                    </a:solidFill>
                    <a:latin typeface="Poppins"/>
                  </a:rPr>
                  <a:t>):</a:t>
                </a:r>
                <a:r>
                  <a:rPr sz="1600" b="0" i="0" u="none" dirty="0">
                    <a:solidFill>
                      <a:srgbClr val="002060"/>
                    </a:solidFill>
                    <a:latin typeface="Poppins"/>
                  </a:rPr>
                  <a:t> </a:t>
                </a:r>
                <a:r>
                  <a:rPr sz="1600" b="0" i="0" u="none" dirty="0" err="1">
                    <a:latin typeface="Poppins"/>
                  </a:rPr>
                  <a:t>Cada</a:t>
                </a:r>
                <a:r>
                  <a:rPr sz="1600" b="0" i="0" u="none" dirty="0">
                    <a:latin typeface="Poppins"/>
                  </a:rPr>
                  <a:t> </a:t>
                </a:r>
                <a:r>
                  <a:rPr sz="1600" b="0" i="0" u="none" dirty="0" err="1">
                    <a:latin typeface="Poppins"/>
                  </a:rPr>
                  <a:t>bloque</a:t>
                </a:r>
                <a:r>
                  <a:rPr sz="1600" b="0" i="0" u="none" dirty="0">
                    <a:latin typeface="Poppins"/>
                  </a:rPr>
                  <a:t> de </a:t>
                </a:r>
                <a:r>
                  <a:rPr sz="1600" b="0" i="0" u="none" dirty="0" err="1">
                    <a:latin typeface="Poppins"/>
                  </a:rPr>
                  <a:t>memoria</a:t>
                </a:r>
                <a:r>
                  <a:rPr sz="1600" b="0" i="0" u="none" dirty="0">
                    <a:latin typeface="Poppins"/>
                  </a:rPr>
                  <a:t> principal </a:t>
                </a:r>
                <a:r>
                  <a:rPr sz="1600" b="0" i="0" u="none" dirty="0" err="1">
                    <a:latin typeface="Poppins"/>
                  </a:rPr>
                  <a:t>va</a:t>
                </a:r>
                <a:r>
                  <a:rPr sz="1600" b="0" i="0" u="none" dirty="0">
                    <a:latin typeface="Poppins"/>
                  </a:rPr>
                  <a:t> a una </a:t>
                </a:r>
                <a:r>
                  <a:rPr sz="1600" b="0" i="0" u="none" dirty="0" err="1">
                    <a:latin typeface="Poppins"/>
                  </a:rPr>
                  <a:t>ubicación</a:t>
                </a:r>
                <a:r>
                  <a:rPr sz="1600" b="0" i="0" u="none" dirty="0">
                    <a:latin typeface="Poppins"/>
                  </a:rPr>
                  <a:t> </a:t>
                </a:r>
                <a:r>
                  <a:rPr sz="1600" b="0" i="0" u="none" dirty="0" err="1">
                    <a:latin typeface="Poppins"/>
                  </a:rPr>
                  <a:t>fija</a:t>
                </a:r>
                <a:r>
                  <a:rPr sz="1600" b="0" i="0" u="none" dirty="0">
                    <a:latin typeface="Poppins"/>
                  </a:rPr>
                  <a:t> y </a:t>
                </a:r>
                <a:r>
                  <a:rPr sz="1600" b="0" i="0" u="none" dirty="0" err="1">
                    <a:latin typeface="Poppins"/>
                  </a:rPr>
                  <a:t>predeterminada</a:t>
                </a:r>
                <a:endParaRPr sz="1600" b="0" i="0" u="none" dirty="0">
                  <a:latin typeface="Poppins"/>
                </a:endParaRPr>
              </a:p>
            </p:txBody>
          </p:sp>
          <p:sp>
            <p:nvSpPr>
              <p:cNvPr id="9" name="TextBox 9">
                <a:extLst>
                  <a:ext uri="{FF2B5EF4-FFF2-40B4-BE49-F238E27FC236}">
                    <a16:creationId xmlns:a16="http://schemas.microsoft.com/office/drawing/2014/main" id="{B9CDE95D-82A6-48A2-BCDC-DC90CD6AFB8B}"/>
                  </a:ext>
                </a:extLst>
              </p:cNvPr>
              <p:cNvSpPr txBox="1"/>
              <p:nvPr/>
            </p:nvSpPr>
            <p:spPr>
              <a:xfrm>
                <a:off x="971550" y="3857625"/>
                <a:ext cx="6667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600" b="0" i="0" u="none">
                    <a:latin typeface="Poppins"/>
                  </a:rPr>
                  <a:t>•</a:t>
                </a:r>
              </a:p>
            </p:txBody>
          </p:sp>
          <p:sp>
            <p:nvSpPr>
              <p:cNvPr id="10" name="TextBox 10">
                <a:extLst>
                  <a:ext uri="{FF2B5EF4-FFF2-40B4-BE49-F238E27FC236}">
                    <a16:creationId xmlns:a16="http://schemas.microsoft.com/office/drawing/2014/main" id="{A65B5BD1-E917-435F-AE1B-6F81E73A212A}"/>
                  </a:ext>
                </a:extLst>
              </p:cNvPr>
              <p:cNvSpPr txBox="1"/>
              <p:nvPr/>
            </p:nvSpPr>
            <p:spPr>
              <a:xfrm>
                <a:off x="1038225" y="3857625"/>
                <a:ext cx="4610100" cy="502958"/>
              </a:xfrm>
              <a:prstGeom prst="rect">
                <a:avLst/>
              </a:prstGeom>
              <a:noFill/>
            </p:spPr>
            <p:txBody>
              <a:bodyPr wrap="square" lIns="66675" tIns="0" rIns="0" bIns="0" anchor="t">
                <a:spAutoFit/>
              </a:bodyPr>
              <a:lstStyle/>
              <a:p>
                <a:pPr algn="l">
                  <a:lnSpc>
                    <a:spcPts val="2025"/>
                  </a:lnSpc>
                </a:pPr>
                <a:r>
                  <a:rPr sz="1600" b="1" i="0" u="none" dirty="0" err="1">
                    <a:solidFill>
                      <a:srgbClr val="002060"/>
                    </a:solidFill>
                    <a:latin typeface="Poppins"/>
                  </a:rPr>
                  <a:t>Asociativa</a:t>
                </a:r>
                <a:r>
                  <a:rPr sz="1600" b="1" i="0" u="none" dirty="0">
                    <a:solidFill>
                      <a:srgbClr val="002060"/>
                    </a:solidFill>
                    <a:latin typeface="Poppins"/>
                  </a:rPr>
                  <a:t> por </a:t>
                </a:r>
                <a:r>
                  <a:rPr sz="1600" b="1" i="0" u="none" dirty="0" err="1">
                    <a:solidFill>
                      <a:srgbClr val="002060"/>
                    </a:solidFill>
                    <a:latin typeface="Poppins"/>
                  </a:rPr>
                  <a:t>Vías</a:t>
                </a:r>
                <a:r>
                  <a:rPr sz="1600" b="1" i="0" u="none" dirty="0">
                    <a:solidFill>
                      <a:srgbClr val="002060"/>
                    </a:solidFill>
                    <a:latin typeface="Poppins"/>
                  </a:rPr>
                  <a:t> (2, 4, 8, 16 </a:t>
                </a:r>
                <a:r>
                  <a:rPr sz="1600" b="1" i="0" u="none" dirty="0" err="1">
                    <a:solidFill>
                      <a:srgbClr val="002060"/>
                    </a:solidFill>
                    <a:latin typeface="Poppins"/>
                  </a:rPr>
                  <a:t>vías</a:t>
                </a:r>
                <a:r>
                  <a:rPr sz="1600" b="1" i="0" u="none" dirty="0">
                    <a:solidFill>
                      <a:srgbClr val="002060"/>
                    </a:solidFill>
                    <a:latin typeface="Poppins"/>
                  </a:rPr>
                  <a:t>):</a:t>
                </a:r>
                <a:r>
                  <a:rPr sz="1600" b="0" i="0" u="none" dirty="0">
                    <a:solidFill>
                      <a:srgbClr val="002060"/>
                    </a:solidFill>
                    <a:latin typeface="Poppins"/>
                  </a:rPr>
                  <a:t> </a:t>
                </a:r>
                <a:r>
                  <a:rPr sz="1600" b="0" i="0" u="none" dirty="0" err="1">
                    <a:latin typeface="Poppins"/>
                  </a:rPr>
                  <a:t>Ofrece</a:t>
                </a:r>
                <a:r>
                  <a:rPr sz="1600" b="0" i="0" u="none" dirty="0">
                    <a:latin typeface="Poppins"/>
                  </a:rPr>
                  <a:t> mayor </a:t>
                </a:r>
                <a:r>
                  <a:rPr sz="1600" b="0" i="0" u="none" dirty="0" err="1">
                    <a:latin typeface="Poppins"/>
                  </a:rPr>
                  <a:t>flexibilidad</a:t>
                </a:r>
                <a:r>
                  <a:rPr sz="1600" b="0" i="0" u="none" dirty="0">
                    <a:latin typeface="Poppins"/>
                  </a:rPr>
                  <a:t> al </a:t>
                </a:r>
                <a:r>
                  <a:rPr sz="1600" b="0" i="0" u="none" dirty="0" err="1">
                    <a:latin typeface="Poppins"/>
                  </a:rPr>
                  <a:t>permitir</a:t>
                </a:r>
                <a:r>
                  <a:rPr sz="1600" b="0" i="0" u="none" dirty="0">
                    <a:latin typeface="Poppins"/>
                  </a:rPr>
                  <a:t> </a:t>
                </a:r>
                <a:r>
                  <a:rPr sz="1600" b="0" i="0" u="none" dirty="0" err="1">
                    <a:latin typeface="Poppins"/>
                  </a:rPr>
                  <a:t>alojar</a:t>
                </a:r>
                <a:r>
                  <a:rPr sz="1600" b="0" i="0" u="none" dirty="0">
                    <a:latin typeface="Poppins"/>
                  </a:rPr>
                  <a:t> </a:t>
                </a:r>
                <a:r>
                  <a:rPr sz="1600" b="0" i="0" u="none" dirty="0" err="1">
                    <a:latin typeface="Poppins"/>
                  </a:rPr>
                  <a:t>bloques</a:t>
                </a:r>
                <a:r>
                  <a:rPr sz="1600" b="0" i="0" u="none" dirty="0">
                    <a:latin typeface="Poppins"/>
                  </a:rPr>
                  <a:t> </a:t>
                </a:r>
                <a:r>
                  <a:rPr sz="1600" b="0" i="0" u="none" dirty="0" err="1">
                    <a:latin typeface="Poppins"/>
                  </a:rPr>
                  <a:t>en</a:t>
                </a:r>
                <a:r>
                  <a:rPr sz="1600" b="0" i="0" u="none" dirty="0">
                    <a:latin typeface="Poppins"/>
                  </a:rPr>
                  <a:t> </a:t>
                </a:r>
                <a:r>
                  <a:rPr sz="1600" b="0" i="0" u="none" dirty="0" err="1">
                    <a:latin typeface="Poppins"/>
                  </a:rPr>
                  <a:t>múltiples</a:t>
                </a:r>
                <a:r>
                  <a:rPr sz="1600" b="0" i="0" u="none" dirty="0">
                    <a:latin typeface="Poppins"/>
                  </a:rPr>
                  <a:t> </a:t>
                </a:r>
                <a:r>
                  <a:rPr sz="1600" b="0" i="0" u="none" dirty="0" err="1">
                    <a:latin typeface="Poppins"/>
                  </a:rPr>
                  <a:t>ranuras</a:t>
                </a:r>
                <a:r>
                  <a:rPr sz="1600" b="0" i="0" u="none" dirty="0">
                    <a:latin typeface="Poppins"/>
                  </a:rPr>
                  <a:t> por conjunto</a:t>
                </a:r>
              </a:p>
            </p:txBody>
          </p:sp>
        </p:grp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D2C2D9D7-F6A2-4A12-9424-9EF9F28712D7}"/>
                </a:ext>
              </a:extLst>
            </p:cNvPr>
            <p:cNvGrpSpPr/>
            <p:nvPr/>
          </p:nvGrpSpPr>
          <p:grpSpPr>
            <a:xfrm>
              <a:off x="3806455" y="3713062"/>
              <a:ext cx="7481703" cy="1569910"/>
              <a:chOff x="6510337" y="2852351"/>
              <a:chExt cx="5024913" cy="1569910"/>
            </a:xfrm>
          </p:grpSpPr>
          <p:sp>
            <p:nvSpPr>
              <p:cNvPr id="12" name="TextBox 5">
                <a:extLst>
                  <a:ext uri="{FF2B5EF4-FFF2-40B4-BE49-F238E27FC236}">
                    <a16:creationId xmlns:a16="http://schemas.microsoft.com/office/drawing/2014/main" id="{0CB5E894-68EB-46E7-94D4-97D1251FA396}"/>
                  </a:ext>
                </a:extLst>
              </p:cNvPr>
              <p:cNvSpPr txBox="1"/>
              <p:nvPr/>
            </p:nvSpPr>
            <p:spPr>
              <a:xfrm>
                <a:off x="6824662" y="2852351"/>
                <a:ext cx="471058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/>
                <a:r>
                  <a:rPr b="1" i="0" u="none" dirty="0" err="1">
                    <a:solidFill>
                      <a:srgbClr val="002060"/>
                    </a:solidFill>
                    <a:latin typeface="Poppins"/>
                  </a:rPr>
                  <a:t>Parámetros</a:t>
                </a:r>
                <a:r>
                  <a:rPr b="1" i="0" u="none" dirty="0">
                    <a:solidFill>
                      <a:srgbClr val="002060"/>
                    </a:solidFill>
                    <a:latin typeface="Poppins"/>
                  </a:rPr>
                  <a:t> de </a:t>
                </a:r>
                <a:r>
                  <a:rPr b="1" i="0" u="none" dirty="0" err="1">
                    <a:solidFill>
                      <a:srgbClr val="002060"/>
                    </a:solidFill>
                    <a:latin typeface="Poppins"/>
                  </a:rPr>
                  <a:t>Diseño</a:t>
                </a:r>
                <a:endParaRPr b="1" i="0" u="none" dirty="0">
                  <a:solidFill>
                    <a:srgbClr val="002060"/>
                  </a:solidFill>
                  <a:latin typeface="Poppins"/>
                </a:endParaRPr>
              </a:p>
            </p:txBody>
          </p:sp>
          <p:pic>
            <p:nvPicPr>
              <p:cNvPr id="13" name="Picture 11" descr="image.png">
                <a:extLst>
                  <a:ext uri="{FF2B5EF4-FFF2-40B4-BE49-F238E27FC236}">
                    <a16:creationId xmlns:a16="http://schemas.microsoft.com/office/drawing/2014/main" id="{C20E045A-0589-4537-A40B-E1A56BD4E3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6510337" y="2895600"/>
                <a:ext cx="219075" cy="190500"/>
              </a:xfrm>
              <a:prstGeom prst="rect">
                <a:avLst/>
              </a:prstGeom>
            </p:spPr>
          </p:pic>
          <p:sp>
            <p:nvSpPr>
              <p:cNvPr id="14" name="TextBox 12">
                <a:extLst>
                  <a:ext uri="{FF2B5EF4-FFF2-40B4-BE49-F238E27FC236}">
                    <a16:creationId xmlns:a16="http://schemas.microsoft.com/office/drawing/2014/main" id="{19112CF7-64B0-40D5-837B-6C0E9BFE9839}"/>
                  </a:ext>
                </a:extLst>
              </p:cNvPr>
              <p:cNvSpPr txBox="1"/>
              <p:nvPr/>
            </p:nvSpPr>
            <p:spPr>
              <a:xfrm>
                <a:off x="6634162" y="3248025"/>
                <a:ext cx="6667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600" b="0" i="0" u="none">
                    <a:latin typeface="Poppins"/>
                  </a:rPr>
                  <a:t>•</a:t>
                </a:r>
              </a:p>
            </p:txBody>
          </p:sp>
          <p:sp>
            <p:nvSpPr>
              <p:cNvPr id="15" name="TextBox 13">
                <a:extLst>
                  <a:ext uri="{FF2B5EF4-FFF2-40B4-BE49-F238E27FC236}">
                    <a16:creationId xmlns:a16="http://schemas.microsoft.com/office/drawing/2014/main" id="{48666A9D-6E64-4966-98B8-B61628108F17}"/>
                  </a:ext>
                </a:extLst>
              </p:cNvPr>
              <p:cNvSpPr txBox="1"/>
              <p:nvPr/>
            </p:nvSpPr>
            <p:spPr>
              <a:xfrm>
                <a:off x="6700837" y="3248025"/>
                <a:ext cx="4610100" cy="246478"/>
              </a:xfrm>
              <a:prstGeom prst="rect">
                <a:avLst/>
              </a:prstGeom>
              <a:noFill/>
            </p:spPr>
            <p:txBody>
              <a:bodyPr wrap="square" lIns="66675" tIns="0" rIns="0" bIns="0" anchor="t">
                <a:spAutoFit/>
              </a:bodyPr>
              <a:lstStyle/>
              <a:p>
                <a:pPr algn="l">
                  <a:lnSpc>
                    <a:spcPts val="2025"/>
                  </a:lnSpc>
                </a:pPr>
                <a:r>
                  <a:rPr sz="1600" b="1" i="0" u="none" dirty="0" err="1">
                    <a:solidFill>
                      <a:srgbClr val="002060"/>
                    </a:solidFill>
                    <a:latin typeface="Poppins"/>
                  </a:rPr>
                  <a:t>Capacidad</a:t>
                </a:r>
                <a:r>
                  <a:rPr sz="1600" b="1" i="0" u="none" dirty="0">
                    <a:solidFill>
                      <a:srgbClr val="002060"/>
                    </a:solidFill>
                    <a:latin typeface="Poppins"/>
                  </a:rPr>
                  <a:t> Total:</a:t>
                </a:r>
                <a:r>
                  <a:rPr sz="1600" b="0" i="0" u="none" dirty="0">
                    <a:solidFill>
                      <a:srgbClr val="002060"/>
                    </a:solidFill>
                    <a:latin typeface="Poppins"/>
                  </a:rPr>
                  <a:t> </a:t>
                </a:r>
                <a:r>
                  <a:rPr sz="1600" b="0" i="0" u="none" dirty="0" err="1">
                    <a:latin typeface="Poppins"/>
                  </a:rPr>
                  <a:t>Configurado</a:t>
                </a:r>
                <a:r>
                  <a:rPr sz="1600" b="0" i="0" u="none" dirty="0">
                    <a:latin typeface="Poppins"/>
                  </a:rPr>
                  <a:t> </a:t>
                </a:r>
                <a:r>
                  <a:rPr sz="1600" b="0" i="0" u="none" dirty="0" err="1">
                    <a:latin typeface="Poppins"/>
                  </a:rPr>
                  <a:t>exactamente</a:t>
                </a:r>
                <a:r>
                  <a:rPr sz="1600" b="0" i="0" u="none" dirty="0">
                    <a:latin typeface="Poppins"/>
                  </a:rPr>
                  <a:t> con un total de 16 </a:t>
                </a:r>
                <a:r>
                  <a:rPr sz="1600" b="0" i="0" u="none" dirty="0" err="1">
                    <a:latin typeface="Poppins"/>
                  </a:rPr>
                  <a:t>líneas</a:t>
                </a:r>
                <a:r>
                  <a:rPr sz="1600" b="0" i="0" u="none" dirty="0">
                    <a:latin typeface="Poppins"/>
                  </a:rPr>
                  <a:t> de </a:t>
                </a:r>
                <a:r>
                  <a:rPr sz="1600" b="0" i="0" u="none" dirty="0" err="1">
                    <a:latin typeface="Poppins"/>
                  </a:rPr>
                  <a:t>caché</a:t>
                </a:r>
                <a:endParaRPr sz="1600" b="0" i="0" u="none" dirty="0">
                  <a:latin typeface="Poppins"/>
                </a:endParaRPr>
              </a:p>
            </p:txBody>
          </p:sp>
          <p:sp>
            <p:nvSpPr>
              <p:cNvPr id="16" name="TextBox 14">
                <a:extLst>
                  <a:ext uri="{FF2B5EF4-FFF2-40B4-BE49-F238E27FC236}">
                    <a16:creationId xmlns:a16="http://schemas.microsoft.com/office/drawing/2014/main" id="{09A4A8D0-FCDC-4EED-A363-4B0D383B4EE9}"/>
                  </a:ext>
                </a:extLst>
              </p:cNvPr>
              <p:cNvSpPr txBox="1"/>
              <p:nvPr/>
            </p:nvSpPr>
            <p:spPr>
              <a:xfrm>
                <a:off x="6667500" y="3708763"/>
                <a:ext cx="6667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600" b="0" i="0" u="none">
                    <a:latin typeface="Poppins"/>
                  </a:rPr>
                  <a:t>•</a:t>
                </a:r>
              </a:p>
            </p:txBody>
          </p:sp>
          <p:sp>
            <p:nvSpPr>
              <p:cNvPr id="17" name="TextBox 15">
                <a:extLst>
                  <a:ext uri="{FF2B5EF4-FFF2-40B4-BE49-F238E27FC236}">
                    <a16:creationId xmlns:a16="http://schemas.microsoft.com/office/drawing/2014/main" id="{3E41F2A6-FEF9-4E61-87A6-E82B1DCDD81F}"/>
                  </a:ext>
                </a:extLst>
              </p:cNvPr>
              <p:cNvSpPr txBox="1"/>
              <p:nvPr/>
            </p:nvSpPr>
            <p:spPr>
              <a:xfrm>
                <a:off x="6734175" y="3719396"/>
                <a:ext cx="4610100" cy="246478"/>
              </a:xfrm>
              <a:prstGeom prst="rect">
                <a:avLst/>
              </a:prstGeom>
              <a:noFill/>
            </p:spPr>
            <p:txBody>
              <a:bodyPr wrap="square" lIns="66675" tIns="0" rIns="0" bIns="0" anchor="t">
                <a:spAutoFit/>
              </a:bodyPr>
              <a:lstStyle/>
              <a:p>
                <a:pPr algn="l">
                  <a:lnSpc>
                    <a:spcPts val="2025"/>
                  </a:lnSpc>
                </a:pPr>
                <a:r>
                  <a:rPr sz="1600" b="1" i="0" u="none" dirty="0" err="1">
                    <a:solidFill>
                      <a:srgbClr val="002060"/>
                    </a:solidFill>
                    <a:latin typeface="Poppins"/>
                  </a:rPr>
                  <a:t>Tamaño</a:t>
                </a:r>
                <a:r>
                  <a:rPr sz="1600" b="1" i="0" u="none" dirty="0">
                    <a:solidFill>
                      <a:srgbClr val="002060"/>
                    </a:solidFill>
                    <a:latin typeface="Poppins"/>
                  </a:rPr>
                  <a:t> de </a:t>
                </a:r>
                <a:r>
                  <a:rPr sz="1600" b="1" i="0" u="none" dirty="0" err="1">
                    <a:solidFill>
                      <a:srgbClr val="002060"/>
                    </a:solidFill>
                    <a:latin typeface="Poppins"/>
                  </a:rPr>
                  <a:t>Bloque</a:t>
                </a:r>
                <a:r>
                  <a:rPr sz="1600" b="1" i="0" u="none" dirty="0">
                    <a:solidFill>
                      <a:srgbClr val="002060"/>
                    </a:solidFill>
                    <a:latin typeface="Poppins"/>
                  </a:rPr>
                  <a:t>:</a:t>
                </a:r>
                <a:r>
                  <a:rPr sz="1600" b="0" i="0" u="none" dirty="0">
                    <a:solidFill>
                      <a:srgbClr val="002060"/>
                    </a:solidFill>
                    <a:latin typeface="Poppins"/>
                  </a:rPr>
                  <a:t> </a:t>
                </a:r>
                <a:r>
                  <a:rPr sz="1600" b="0" i="0" u="none" dirty="0" err="1">
                    <a:latin typeface="Poppins"/>
                  </a:rPr>
                  <a:t>Establecido</a:t>
                </a:r>
                <a:r>
                  <a:rPr sz="1600" b="0" i="0" u="none" dirty="0">
                    <a:latin typeface="Poppins"/>
                  </a:rPr>
                  <a:t> </a:t>
                </a:r>
                <a:r>
                  <a:rPr sz="1600" b="0" i="0" u="none" dirty="0" err="1">
                    <a:latin typeface="Poppins"/>
                  </a:rPr>
                  <a:t>en</a:t>
                </a:r>
                <a:r>
                  <a:rPr sz="1600" b="0" i="0" u="none" dirty="0">
                    <a:latin typeface="Poppins"/>
                  </a:rPr>
                  <a:t> 4 palabras por </a:t>
                </a:r>
                <a:r>
                  <a:rPr sz="1600" b="0" i="0" u="none" dirty="0" err="1">
                    <a:latin typeface="Poppins"/>
                  </a:rPr>
                  <a:t>bloque</a:t>
                </a:r>
                <a:endParaRPr sz="1600" b="0" i="0" u="none" dirty="0">
                  <a:latin typeface="Poppins"/>
                </a:endParaRPr>
              </a:p>
            </p:txBody>
          </p:sp>
          <p:sp>
            <p:nvSpPr>
              <p:cNvPr id="18" name="TextBox 16">
                <a:extLst>
                  <a:ext uri="{FF2B5EF4-FFF2-40B4-BE49-F238E27FC236}">
                    <a16:creationId xmlns:a16="http://schemas.microsoft.com/office/drawing/2014/main" id="{D8665AE3-6B96-488D-8747-7FCEF7997190}"/>
                  </a:ext>
                </a:extLst>
              </p:cNvPr>
              <p:cNvSpPr txBox="1"/>
              <p:nvPr/>
            </p:nvSpPr>
            <p:spPr>
              <a:xfrm>
                <a:off x="6667500" y="4176040"/>
                <a:ext cx="6667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endParaRPr sz="1600" b="0" i="0" u="none" dirty="0">
                  <a:latin typeface="Poppin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9176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590550" y="495300"/>
            <a:ext cx="1156144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200" b="1" i="0" u="none" dirty="0" err="1">
                <a:solidFill>
                  <a:srgbClr val="002060"/>
                </a:solidFill>
                <a:latin typeface="Poppins"/>
              </a:rPr>
              <a:t>Interfaz</a:t>
            </a:r>
            <a:r>
              <a:rPr sz="3200" b="1" i="0" u="none" dirty="0">
                <a:solidFill>
                  <a:srgbClr val="002060"/>
                </a:solidFill>
                <a:latin typeface="Poppins"/>
              </a:rPr>
              <a:t> de </a:t>
            </a:r>
            <a:r>
              <a:rPr sz="3200" b="1" i="0" u="none" dirty="0" err="1">
                <a:solidFill>
                  <a:srgbClr val="002060"/>
                </a:solidFill>
                <a:latin typeface="Poppins"/>
              </a:rPr>
              <a:t>Usuario</a:t>
            </a:r>
            <a:r>
              <a:rPr sz="3200" b="1" i="0" u="none" dirty="0">
                <a:solidFill>
                  <a:srgbClr val="002060"/>
                </a:solidFill>
                <a:latin typeface="Poppins"/>
              </a:rPr>
              <a:t> y </a:t>
            </a:r>
            <a:r>
              <a:rPr sz="3200" b="1" i="0" u="none" dirty="0" err="1">
                <a:solidFill>
                  <a:srgbClr val="002060"/>
                </a:solidFill>
                <a:latin typeface="Poppins"/>
              </a:rPr>
              <a:t>Menú</a:t>
            </a:r>
            <a:r>
              <a:rPr sz="3200" b="1" i="0" u="none" dirty="0">
                <a:solidFill>
                  <a:srgbClr val="002060"/>
                </a:solidFill>
                <a:latin typeface="Poppins"/>
              </a:rPr>
              <a:t> </a:t>
            </a:r>
            <a:r>
              <a:rPr sz="3200" b="1" i="0" u="none" dirty="0" err="1">
                <a:solidFill>
                  <a:srgbClr val="002060"/>
                </a:solidFill>
                <a:latin typeface="Poppins"/>
              </a:rPr>
              <a:t>Interactivo</a:t>
            </a:r>
            <a:endParaRPr sz="3200" b="1" i="0" u="none" dirty="0">
              <a:solidFill>
                <a:srgbClr val="002060"/>
              </a:solidFill>
              <a:latin typeface="Poppi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17B67359-79DE-408D-8DCF-A69B726D88DE}"/>
              </a:ext>
            </a:extLst>
          </p:cNvPr>
          <p:cNvGrpSpPr/>
          <p:nvPr/>
        </p:nvGrpSpPr>
        <p:grpSpPr>
          <a:xfrm>
            <a:off x="938236" y="1979571"/>
            <a:ext cx="10315528" cy="3903489"/>
            <a:chOff x="1113263" y="1979571"/>
            <a:chExt cx="10315528" cy="3903489"/>
          </a:xfrm>
        </p:grpSpPr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283E7799-699A-4030-AF53-10D5B63FE2B5}"/>
                </a:ext>
              </a:extLst>
            </p:cNvPr>
            <p:cNvGrpSpPr/>
            <p:nvPr/>
          </p:nvGrpSpPr>
          <p:grpSpPr>
            <a:xfrm>
              <a:off x="4712618" y="1979571"/>
              <a:ext cx="3131395" cy="2499412"/>
              <a:chOff x="4869372" y="1577620"/>
              <a:chExt cx="3131395" cy="2499412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8843BD95-6B05-4C32-AE65-AC4B090DD5CF}"/>
                  </a:ext>
                </a:extLst>
              </p:cNvPr>
              <p:cNvGrpSpPr/>
              <p:nvPr/>
            </p:nvGrpSpPr>
            <p:grpSpPr>
              <a:xfrm>
                <a:off x="4869372" y="2673838"/>
                <a:ext cx="3131395" cy="1403194"/>
                <a:chOff x="4661247" y="3061901"/>
                <a:chExt cx="3131395" cy="1403194"/>
              </a:xfrm>
            </p:grpSpPr>
            <p:sp>
              <p:nvSpPr>
                <p:cNvPr id="8" name="TextBox 7"/>
                <p:cNvSpPr txBox="1"/>
                <p:nvPr/>
              </p:nvSpPr>
              <p:spPr>
                <a:xfrm>
                  <a:off x="4975572" y="3061901"/>
                  <a:ext cx="281707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/>
                  <a:r>
                    <a:rPr b="1" i="0" u="none" dirty="0" err="1">
                      <a:solidFill>
                        <a:srgbClr val="002060"/>
                      </a:solidFill>
                      <a:latin typeface="Poppins"/>
                    </a:rPr>
                    <a:t>Estadísticas</a:t>
                  </a:r>
                  <a:r>
                    <a:rPr b="1" i="0" u="none" dirty="0">
                      <a:solidFill>
                        <a:srgbClr val="002060"/>
                      </a:solidFill>
                      <a:latin typeface="Poppins"/>
                    </a:rPr>
                    <a:t> </a:t>
                  </a:r>
                  <a:r>
                    <a:rPr b="1" i="0" u="none" dirty="0" err="1">
                      <a:solidFill>
                        <a:srgbClr val="002060"/>
                      </a:solidFill>
                      <a:latin typeface="Poppins"/>
                    </a:rPr>
                    <a:t>en</a:t>
                  </a:r>
                  <a:r>
                    <a:rPr b="1" i="0" u="none" dirty="0">
                      <a:solidFill>
                        <a:srgbClr val="002060"/>
                      </a:solidFill>
                      <a:latin typeface="Poppins"/>
                    </a:rPr>
                    <a:t> Vivo</a:t>
                  </a:r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4661247" y="3457575"/>
                  <a:ext cx="2997249" cy="10075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just">
                    <a:lnSpc>
                      <a:spcPts val="2025"/>
                    </a:lnSpc>
                  </a:pPr>
                  <a:r>
                    <a:rPr sz="1600" b="0" i="0" u="none" dirty="0" err="1">
                      <a:latin typeface="Poppins"/>
                    </a:rPr>
                    <a:t>Muestra</a:t>
                  </a:r>
                  <a:r>
                    <a:rPr sz="1600" b="0" i="0" u="none" dirty="0">
                      <a:latin typeface="Poppins"/>
                    </a:rPr>
                    <a:t> de forma </a:t>
                  </a:r>
                  <a:r>
                    <a:rPr sz="1600" b="0" i="0" u="none" dirty="0" err="1">
                      <a:latin typeface="Poppins"/>
                    </a:rPr>
                    <a:t>clara</a:t>
                  </a:r>
                  <a:r>
                    <a:rPr sz="1600" b="0" i="0" u="none" dirty="0">
                      <a:latin typeface="Poppins"/>
                    </a:rPr>
                    <a:t> </a:t>
                  </a:r>
                  <a:r>
                    <a:rPr sz="1600" b="0" i="0" u="none" dirty="0" err="1">
                      <a:latin typeface="Poppins"/>
                    </a:rPr>
                    <a:t>contadores</a:t>
                  </a:r>
                  <a:r>
                    <a:rPr sz="1600" b="0" i="0" u="none" dirty="0">
                      <a:latin typeface="Poppins"/>
                    </a:rPr>
                    <a:t> de </a:t>
                  </a:r>
                  <a:r>
                    <a:rPr sz="1600" b="0" i="0" u="none" dirty="0" err="1">
                      <a:latin typeface="Poppins"/>
                    </a:rPr>
                    <a:t>aciertos</a:t>
                  </a:r>
                  <a:r>
                    <a:rPr sz="1600" b="0" i="0" u="none" dirty="0">
                      <a:latin typeface="Poppins"/>
                    </a:rPr>
                    <a:t>, </a:t>
                  </a:r>
                  <a:r>
                    <a:rPr sz="1600" b="0" i="0" u="none" dirty="0" err="1">
                      <a:latin typeface="Poppins"/>
                    </a:rPr>
                    <a:t>fallos</a:t>
                  </a:r>
                  <a:r>
                    <a:rPr sz="1600" b="0" i="0" u="none" dirty="0">
                      <a:latin typeface="Poppins"/>
                    </a:rPr>
                    <a:t> </a:t>
                  </a:r>
                  <a:r>
                    <a:rPr sz="1600" b="0" i="0" u="none" dirty="0" err="1">
                      <a:latin typeface="Poppins"/>
                    </a:rPr>
                    <a:t>totales</a:t>
                  </a:r>
                  <a:r>
                    <a:rPr sz="1600" b="0" i="0" u="none" dirty="0">
                      <a:latin typeface="Poppins"/>
                    </a:rPr>
                    <a:t> y el </a:t>
                  </a:r>
                  <a:r>
                    <a:rPr sz="1600" b="0" i="0" u="none" dirty="0" err="1">
                      <a:latin typeface="Poppins"/>
                    </a:rPr>
                    <a:t>porcentaje</a:t>
                  </a:r>
                  <a:r>
                    <a:rPr sz="1600" b="0" i="0" u="none" dirty="0">
                      <a:latin typeface="Poppins"/>
                    </a:rPr>
                    <a:t> de </a:t>
                  </a:r>
                  <a:r>
                    <a:rPr sz="1600" b="0" i="0" u="none" dirty="0" err="1">
                      <a:latin typeface="Poppins"/>
                    </a:rPr>
                    <a:t>tasa</a:t>
                  </a:r>
                  <a:r>
                    <a:rPr sz="1600" b="0" i="0" u="none" dirty="0">
                      <a:latin typeface="Poppins"/>
                    </a:rPr>
                    <a:t> de </a:t>
                  </a:r>
                  <a:r>
                    <a:rPr sz="1600" b="0" i="0" u="none" dirty="0" err="1">
                      <a:latin typeface="Poppins"/>
                    </a:rPr>
                    <a:t>acierto</a:t>
                  </a:r>
                  <a:r>
                    <a:rPr sz="1600" b="0" i="0" u="none" dirty="0">
                      <a:latin typeface="Poppins"/>
                    </a:rPr>
                    <a:t> </a:t>
                  </a:r>
                  <a:r>
                    <a:rPr sz="1600" b="0" i="0" u="none" dirty="0" err="1">
                      <a:latin typeface="Poppins"/>
                    </a:rPr>
                    <a:t>resultante</a:t>
                  </a:r>
                  <a:r>
                    <a:rPr sz="1600" b="0" i="0" u="none" dirty="0">
                      <a:latin typeface="Poppins"/>
                    </a:rPr>
                    <a:t> </a:t>
                  </a:r>
                  <a:r>
                    <a:rPr sz="1600" b="0" i="0" u="none" dirty="0" err="1">
                      <a:latin typeface="Poppins"/>
                    </a:rPr>
                    <a:t>durante</a:t>
                  </a:r>
                  <a:r>
                    <a:rPr sz="1600" b="0" i="0" u="none" dirty="0">
                      <a:latin typeface="Poppins"/>
                    </a:rPr>
                    <a:t> la </a:t>
                  </a:r>
                  <a:r>
                    <a:rPr sz="1600" b="0" i="0" u="none" dirty="0" err="1">
                      <a:latin typeface="Poppins"/>
                    </a:rPr>
                    <a:t>simulación</a:t>
                  </a:r>
                  <a:endParaRPr sz="1600" b="0" i="0" u="none" dirty="0">
                    <a:latin typeface="Poppins"/>
                  </a:endParaRPr>
                </a:p>
              </p:txBody>
            </p:sp>
            <p:pic>
              <p:nvPicPr>
                <p:cNvPr id="13" name="Picture 12" descr="image.png"/>
                <p:cNvPicPr>
                  <a:picLocks noChangeAspect="1"/>
                </p:cNvPicPr>
                <p:nvPr/>
              </p:nvPicPr>
              <p:blipFill>
                <a:blip r:embed="rId2">
                  <a:duotone>
                    <a:prstClr val="black"/>
                    <a:schemeClr val="accent4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4661247" y="3105150"/>
                  <a:ext cx="219075" cy="190500"/>
                </a:xfrm>
                <a:prstGeom prst="rect">
                  <a:avLst/>
                </a:prstGeom>
              </p:spPr>
            </p:pic>
          </p:grpSp>
          <p:cxnSp>
            <p:nvCxnSpPr>
              <p:cNvPr id="24" name="Conector: angular 23">
                <a:extLst>
                  <a:ext uri="{FF2B5EF4-FFF2-40B4-BE49-F238E27FC236}">
                    <a16:creationId xmlns:a16="http://schemas.microsoft.com/office/drawing/2014/main" id="{E7A2B16F-3C8D-4DCD-A5F1-B289F5010FE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6134145" y="2263609"/>
                <a:ext cx="292787" cy="184304"/>
              </a:xfrm>
              <a:prstGeom prst="bentConnector3">
                <a:avLst>
                  <a:gd name="adj1" fmla="val 50000"/>
                </a:avLst>
              </a:prstGeom>
              <a:ln w="19050" cap="flat" cmpd="sng" algn="ctr">
                <a:solidFill>
                  <a:srgbClr val="2D61CB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pic>
            <p:nvPicPr>
              <p:cNvPr id="2" name="Imagen 1">
                <a:extLst>
                  <a:ext uri="{FF2B5EF4-FFF2-40B4-BE49-F238E27FC236}">
                    <a16:creationId xmlns:a16="http://schemas.microsoft.com/office/drawing/2014/main" id="{85D4D27B-875B-4EA9-A6C2-5A837F1810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34383" y="1577620"/>
                <a:ext cx="2817070" cy="469512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</p:pic>
        </p:grp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156149E8-3372-4D39-ABC4-A323D90399DC}"/>
                </a:ext>
              </a:extLst>
            </p:cNvPr>
            <p:cNvGrpSpPr/>
            <p:nvPr/>
          </p:nvGrpSpPr>
          <p:grpSpPr>
            <a:xfrm>
              <a:off x="1113263" y="3069512"/>
              <a:ext cx="3155380" cy="2813548"/>
              <a:chOff x="1164057" y="2353982"/>
              <a:chExt cx="3155380" cy="2813548"/>
            </a:xfrm>
          </p:grpSpPr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35965835-D9F6-4835-8D23-0026D3B876E4}"/>
                  </a:ext>
                </a:extLst>
              </p:cNvPr>
              <p:cNvGrpSpPr/>
              <p:nvPr/>
            </p:nvGrpSpPr>
            <p:grpSpPr>
              <a:xfrm>
                <a:off x="1184232" y="2353982"/>
                <a:ext cx="3135205" cy="1663699"/>
                <a:chOff x="847725" y="3066276"/>
                <a:chExt cx="3135205" cy="1663699"/>
              </a:xfrm>
            </p:grpSpPr>
            <p:sp>
              <p:nvSpPr>
                <p:cNvPr id="6" name="TextBox 5"/>
                <p:cNvSpPr txBox="1"/>
                <p:nvPr/>
              </p:nvSpPr>
              <p:spPr>
                <a:xfrm>
                  <a:off x="1085850" y="3066276"/>
                  <a:ext cx="2897080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/>
                  <a:r>
                    <a:rPr b="1" i="0" u="none" dirty="0" err="1">
                      <a:solidFill>
                        <a:srgbClr val="002060"/>
                      </a:solidFill>
                      <a:latin typeface="Poppins"/>
                    </a:rPr>
                    <a:t>Carga</a:t>
                  </a:r>
                  <a:r>
                    <a:rPr b="1" i="0" u="none" dirty="0">
                      <a:solidFill>
                        <a:srgbClr val="002060"/>
                      </a:solidFill>
                      <a:latin typeface="Poppins"/>
                    </a:rPr>
                    <a:t> de </a:t>
                  </a:r>
                  <a:r>
                    <a:rPr b="1" i="0" u="none" dirty="0" err="1">
                      <a:solidFill>
                        <a:srgbClr val="002060"/>
                      </a:solidFill>
                      <a:latin typeface="Poppins"/>
                    </a:rPr>
                    <a:t>Archivos</a:t>
                  </a:r>
                  <a:endParaRPr b="1" i="0" u="none" dirty="0">
                    <a:solidFill>
                      <a:srgbClr val="002060"/>
                    </a:solidFill>
                    <a:latin typeface="Poppins"/>
                  </a:endParaRPr>
                </a:p>
              </p:txBody>
            </p:sp>
            <p:sp>
              <p:nvSpPr>
                <p:cNvPr id="7" name="TextBox 6"/>
                <p:cNvSpPr txBox="1"/>
                <p:nvPr/>
              </p:nvSpPr>
              <p:spPr>
                <a:xfrm>
                  <a:off x="847725" y="3457575"/>
                  <a:ext cx="2997249" cy="1272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just">
                    <a:lnSpc>
                      <a:spcPts val="2025"/>
                    </a:lnSpc>
                  </a:pPr>
                  <a:r>
                    <a:rPr sz="1600" b="0" i="0" u="none" dirty="0" err="1">
                      <a:latin typeface="Poppins"/>
                    </a:rPr>
                    <a:t>Permite</a:t>
                  </a:r>
                  <a:r>
                    <a:rPr sz="1600" b="0" i="0" u="none" dirty="0">
                      <a:latin typeface="Poppins"/>
                    </a:rPr>
                    <a:t> leer </a:t>
                  </a:r>
                  <a:r>
                    <a:rPr sz="1600" b="0" i="0" u="none" dirty="0" err="1">
                      <a:latin typeface="Poppins"/>
                    </a:rPr>
                    <a:t>dinámicamente</a:t>
                  </a:r>
                  <a:r>
                    <a:rPr sz="1600" b="0" i="0" u="none" dirty="0">
                      <a:latin typeface="Poppins"/>
                    </a:rPr>
                    <a:t> </a:t>
                  </a:r>
                  <a:r>
                    <a:rPr sz="1600" b="0" i="0" u="none" dirty="0" err="1">
                      <a:latin typeface="Poppins"/>
                    </a:rPr>
                    <a:t>secuencias</a:t>
                  </a:r>
                  <a:r>
                    <a:rPr sz="1600" b="0" i="0" u="none" dirty="0">
                      <a:latin typeface="Poppins"/>
                    </a:rPr>
                    <a:t> de </a:t>
                  </a:r>
                  <a:r>
                    <a:rPr sz="1600" b="0" i="0" u="none" dirty="0" err="1">
                      <a:latin typeface="Poppins"/>
                    </a:rPr>
                    <a:t>direcciones</a:t>
                  </a:r>
                  <a:r>
                    <a:rPr sz="1600" b="0" i="0" u="none" dirty="0">
                      <a:latin typeface="Poppins"/>
                    </a:rPr>
                    <a:t> de </a:t>
                  </a:r>
                  <a:r>
                    <a:rPr sz="1600" b="0" i="0" u="none" dirty="0" err="1">
                      <a:latin typeface="Poppins"/>
                    </a:rPr>
                    <a:t>memoria</a:t>
                  </a:r>
                  <a:r>
                    <a:rPr sz="1600" b="0" i="0" u="none" dirty="0">
                      <a:latin typeface="Poppins"/>
                    </a:rPr>
                    <a:t> </a:t>
                  </a:r>
                  <a:r>
                    <a:rPr sz="1600" b="0" i="0" u="none" dirty="0" err="1">
                      <a:latin typeface="Poppins"/>
                    </a:rPr>
                    <a:t>desde</a:t>
                  </a:r>
                  <a:r>
                    <a:rPr sz="1600" b="0" i="0" u="none" dirty="0">
                      <a:latin typeface="Poppins"/>
                    </a:rPr>
                    <a:t> el </a:t>
                  </a:r>
                  <a:r>
                    <a:rPr sz="1600" b="0" i="0" u="none" dirty="0" err="1">
                      <a:latin typeface="Poppins"/>
                    </a:rPr>
                    <a:t>archivo</a:t>
                  </a:r>
                  <a:r>
                    <a:rPr sz="1600" b="0" i="0" u="none" dirty="0">
                      <a:latin typeface="Poppins"/>
                    </a:rPr>
                    <a:t> </a:t>
                  </a:r>
                  <a:r>
                    <a:rPr sz="1600" b="0" i="0" u="none" dirty="0" err="1">
                      <a:latin typeface="Poppins"/>
                    </a:rPr>
                    <a:t>externo</a:t>
                  </a:r>
                  <a:r>
                    <a:rPr sz="1600" b="0" i="0" u="none" dirty="0">
                      <a:latin typeface="Poppins"/>
                    </a:rPr>
                    <a:t> entradaCache.txt para </a:t>
                  </a:r>
                  <a:r>
                    <a:rPr sz="1600" b="0" i="0" u="none" dirty="0" err="1">
                      <a:latin typeface="Poppins"/>
                    </a:rPr>
                    <a:t>pruebas</a:t>
                  </a:r>
                  <a:r>
                    <a:rPr sz="1600" b="0" i="0" u="none" dirty="0">
                      <a:latin typeface="Poppins"/>
                    </a:rPr>
                    <a:t> </a:t>
                  </a:r>
                  <a:r>
                    <a:rPr sz="1600" b="0" i="0" u="none" dirty="0" err="1">
                      <a:latin typeface="Poppins"/>
                    </a:rPr>
                    <a:t>estandarizadas</a:t>
                  </a:r>
                  <a:endParaRPr sz="1600" b="0" i="0" u="none" dirty="0">
                    <a:latin typeface="Poppins"/>
                  </a:endParaRPr>
                </a:p>
              </p:txBody>
            </p:sp>
            <p:pic>
              <p:nvPicPr>
                <p:cNvPr id="12" name="Picture 11" descr="image.png"/>
                <p:cNvPicPr>
                  <a:picLocks noChangeAspect="1"/>
                </p:cNvPicPr>
                <p:nvPr/>
              </p:nvPicPr>
              <p:blipFill>
                <a:blip r:embed="rId4">
                  <a:duotone>
                    <a:prstClr val="black"/>
                    <a:schemeClr val="accent4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847725" y="3105150"/>
                  <a:ext cx="142875" cy="190500"/>
                </a:xfrm>
                <a:prstGeom prst="rect">
                  <a:avLst/>
                </a:prstGeom>
              </p:spPr>
            </p:pic>
          </p:grpSp>
          <p:cxnSp>
            <p:nvCxnSpPr>
              <p:cNvPr id="21" name="Conector: angular 20">
                <a:extLst>
                  <a:ext uri="{FF2B5EF4-FFF2-40B4-BE49-F238E27FC236}">
                    <a16:creationId xmlns:a16="http://schemas.microsoft.com/office/drawing/2014/main" id="{CB327ECC-6276-48FB-99E1-F072A95D83AB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2313070" y="4210346"/>
                <a:ext cx="313936" cy="184302"/>
              </a:xfrm>
              <a:prstGeom prst="bentConnector3">
                <a:avLst>
                  <a:gd name="adj1" fmla="val 50000"/>
                </a:avLst>
              </a:prstGeom>
              <a:ln w="19050" cap="flat" cmpd="sng" algn="ctr">
                <a:solidFill>
                  <a:srgbClr val="2D61CB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pic>
            <p:nvPicPr>
              <p:cNvPr id="4" name="Imagen 3">
                <a:extLst>
                  <a:ext uri="{FF2B5EF4-FFF2-40B4-BE49-F238E27FC236}">
                    <a16:creationId xmlns:a16="http://schemas.microsoft.com/office/drawing/2014/main" id="{62B8B93F-406B-466C-A35D-E7E6BDECBA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4057" y="4542744"/>
                <a:ext cx="2808953" cy="624786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</p:pic>
        </p:grpSp>
        <p:grpSp>
          <p:nvGrpSpPr>
            <p:cNvPr id="26" name="Grupo 25">
              <a:extLst>
                <a:ext uri="{FF2B5EF4-FFF2-40B4-BE49-F238E27FC236}">
                  <a16:creationId xmlns:a16="http://schemas.microsoft.com/office/drawing/2014/main" id="{BA2BD8E1-B31B-42B9-A029-C02D90FDF5AA}"/>
                </a:ext>
              </a:extLst>
            </p:cNvPr>
            <p:cNvGrpSpPr/>
            <p:nvPr/>
          </p:nvGrpSpPr>
          <p:grpSpPr>
            <a:xfrm>
              <a:off x="8298348" y="3069512"/>
              <a:ext cx="3130443" cy="2765918"/>
              <a:chOff x="8298348" y="1927294"/>
              <a:chExt cx="3130443" cy="2765918"/>
            </a:xfrm>
          </p:grpSpPr>
          <p:grpSp>
            <p:nvGrpSpPr>
              <p:cNvPr id="19" name="Grupo 18">
                <a:extLst>
                  <a:ext uri="{FF2B5EF4-FFF2-40B4-BE49-F238E27FC236}">
                    <a16:creationId xmlns:a16="http://schemas.microsoft.com/office/drawing/2014/main" id="{B44B3ECF-EB9F-4635-AFC6-CF467F7E83D0}"/>
                  </a:ext>
                </a:extLst>
              </p:cNvPr>
              <p:cNvGrpSpPr/>
              <p:nvPr/>
            </p:nvGrpSpPr>
            <p:grpSpPr>
              <a:xfrm>
                <a:off x="8298348" y="1927294"/>
                <a:ext cx="3130443" cy="1448141"/>
                <a:chOff x="8347174" y="3183510"/>
                <a:chExt cx="3130443" cy="1448141"/>
              </a:xfrm>
            </p:grpSpPr>
            <p:sp>
              <p:nvSpPr>
                <p:cNvPr id="10" name="TextBox 9"/>
                <p:cNvSpPr txBox="1"/>
                <p:nvPr/>
              </p:nvSpPr>
              <p:spPr>
                <a:xfrm>
                  <a:off x="8680549" y="3183510"/>
                  <a:ext cx="279706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/>
                  <a:r>
                    <a:rPr b="1" i="0" u="none" dirty="0" err="1">
                      <a:solidFill>
                        <a:srgbClr val="002060"/>
                      </a:solidFill>
                      <a:latin typeface="Poppins"/>
                    </a:rPr>
                    <a:t>Comparativa</a:t>
                  </a:r>
                  <a:r>
                    <a:rPr b="1" i="0" u="none" dirty="0">
                      <a:solidFill>
                        <a:srgbClr val="002060"/>
                      </a:solidFill>
                      <a:latin typeface="Poppins"/>
                    </a:rPr>
                    <a:t> de </a:t>
                  </a:r>
                  <a:r>
                    <a:rPr b="1" i="0" u="none" dirty="0" err="1">
                      <a:solidFill>
                        <a:srgbClr val="002060"/>
                      </a:solidFill>
                      <a:latin typeface="Poppins"/>
                    </a:rPr>
                    <a:t>Esquemas</a:t>
                  </a:r>
                  <a:endParaRPr b="1" i="0" u="none" dirty="0">
                    <a:solidFill>
                      <a:srgbClr val="002060"/>
                    </a:solidFill>
                    <a:latin typeface="Poppins"/>
                  </a:endParaRPr>
                </a:p>
              </p:txBody>
            </p:sp>
            <p:sp>
              <p:nvSpPr>
                <p:cNvPr id="11" name="TextBox 10"/>
                <p:cNvSpPr txBox="1"/>
                <p:nvPr/>
              </p:nvSpPr>
              <p:spPr>
                <a:xfrm>
                  <a:off x="8347174" y="3615732"/>
                  <a:ext cx="2997249" cy="101591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just">
                    <a:lnSpc>
                      <a:spcPts val="2025"/>
                    </a:lnSpc>
                  </a:pPr>
                  <a:r>
                    <a:rPr sz="1600" b="0" i="0" u="none" dirty="0" err="1">
                      <a:latin typeface="Poppins"/>
                    </a:rPr>
                    <a:t>Facilita</a:t>
                  </a:r>
                  <a:r>
                    <a:rPr sz="1600" b="0" i="0" u="none" dirty="0">
                      <a:latin typeface="Poppins"/>
                    </a:rPr>
                    <a:t> la </a:t>
                  </a:r>
                  <a:r>
                    <a:rPr sz="1600" b="0" i="0" u="none" dirty="0" err="1">
                      <a:latin typeface="Poppins"/>
                    </a:rPr>
                    <a:t>evaluación</a:t>
                  </a:r>
                  <a:r>
                    <a:rPr sz="1600" b="0" i="0" u="none" dirty="0">
                      <a:latin typeface="Poppins"/>
                    </a:rPr>
                    <a:t> </a:t>
                  </a:r>
                  <a:r>
                    <a:rPr sz="1600" b="0" i="0" u="none" dirty="0" err="1">
                      <a:latin typeface="Poppins"/>
                    </a:rPr>
                    <a:t>cruzada</a:t>
                  </a:r>
                  <a:r>
                    <a:rPr sz="1600" b="0" i="0" u="none" dirty="0">
                      <a:latin typeface="Poppins"/>
                    </a:rPr>
                    <a:t> entre </a:t>
                  </a:r>
                  <a:r>
                    <a:rPr sz="1600" b="0" i="0" u="none" dirty="0" err="1">
                      <a:latin typeface="Poppins"/>
                    </a:rPr>
                    <a:t>mapeo</a:t>
                  </a:r>
                  <a:r>
                    <a:rPr sz="1600" b="0" i="0" u="none" dirty="0">
                      <a:latin typeface="Poppins"/>
                    </a:rPr>
                    <a:t> </a:t>
                  </a:r>
                  <a:r>
                    <a:rPr sz="1600" b="0" i="0" u="none" dirty="0" err="1">
                      <a:latin typeface="Poppins"/>
                    </a:rPr>
                    <a:t>directo</a:t>
                  </a:r>
                  <a:r>
                    <a:rPr sz="1600" b="0" i="0" u="none" dirty="0">
                      <a:latin typeface="Poppins"/>
                    </a:rPr>
                    <a:t> y </a:t>
                  </a:r>
                  <a:r>
                    <a:rPr sz="1600" b="0" i="0" u="none" dirty="0" err="1">
                      <a:latin typeface="Poppins"/>
                    </a:rPr>
                    <a:t>asociativo</a:t>
                  </a:r>
                  <a:r>
                    <a:rPr sz="1600" b="0" i="0" u="none" dirty="0">
                      <a:latin typeface="Poppins"/>
                    </a:rPr>
                    <a:t>, </a:t>
                  </a:r>
                  <a:r>
                    <a:rPr sz="1600" b="0" i="0" u="none" dirty="0" err="1">
                      <a:latin typeface="Poppins"/>
                    </a:rPr>
                    <a:t>activando</a:t>
                  </a:r>
                  <a:r>
                    <a:rPr sz="1600" b="0" i="0" u="none" dirty="0">
                      <a:latin typeface="Poppins"/>
                    </a:rPr>
                    <a:t> o </a:t>
                  </a:r>
                  <a:r>
                    <a:rPr sz="1600" b="0" i="0" u="none" dirty="0" err="1">
                      <a:latin typeface="Poppins"/>
                    </a:rPr>
                    <a:t>desactivando</a:t>
                  </a:r>
                  <a:r>
                    <a:rPr sz="1600" b="0" i="0" u="none" dirty="0">
                      <a:latin typeface="Poppins"/>
                    </a:rPr>
                    <a:t> la </a:t>
                  </a:r>
                  <a:r>
                    <a:rPr sz="1600" b="0" i="0" u="none" dirty="0" err="1">
                      <a:latin typeface="Poppins"/>
                    </a:rPr>
                    <a:t>estrategia</a:t>
                  </a:r>
                  <a:r>
                    <a:rPr sz="1600" b="0" i="0" u="none" dirty="0">
                      <a:latin typeface="Poppins"/>
                    </a:rPr>
                    <a:t> de prefetch</a:t>
                  </a:r>
                </a:p>
              </p:txBody>
            </p:sp>
            <p:pic>
              <p:nvPicPr>
                <p:cNvPr id="14" name="Picture 13" descr="image.png"/>
                <p:cNvPicPr>
                  <a:picLocks noChangeAspect="1"/>
                </p:cNvPicPr>
                <p:nvPr/>
              </p:nvPicPr>
              <p:blipFill>
                <a:blip r:embed="rId6">
                  <a:duotone>
                    <a:prstClr val="black"/>
                    <a:schemeClr val="accent4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8347174" y="3248025"/>
                  <a:ext cx="238125" cy="190500"/>
                </a:xfrm>
                <a:prstGeom prst="rect">
                  <a:avLst/>
                </a:prstGeom>
              </p:spPr>
            </p:pic>
          </p:grpSp>
          <p:cxnSp>
            <p:nvCxnSpPr>
              <p:cNvPr id="23" name="Conector: angular 22">
                <a:extLst>
                  <a:ext uri="{FF2B5EF4-FFF2-40B4-BE49-F238E27FC236}">
                    <a16:creationId xmlns:a16="http://schemas.microsoft.com/office/drawing/2014/main" id="{FABCCD9E-6FBB-4428-8530-1CEA3D1AA27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9696175" y="3557540"/>
                <a:ext cx="334797" cy="184304"/>
              </a:xfrm>
              <a:prstGeom prst="bentConnector3">
                <a:avLst>
                  <a:gd name="adj1" fmla="val 50000"/>
                </a:avLst>
              </a:prstGeom>
              <a:ln w="19050" cap="flat" cmpd="sng" algn="ctr">
                <a:solidFill>
                  <a:srgbClr val="2D61CB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C2DCB8AA-347D-4497-B559-B3A5EE4F73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07185" y="3908920"/>
                <a:ext cx="2897081" cy="784292"/>
              </a:xfrm>
              <a:prstGeom prst="roundRect">
                <a:avLst>
                  <a:gd name="adj" fmla="val 16667"/>
                </a:avLst>
              </a:prstGeom>
              <a:ln>
                <a:noFill/>
              </a:ln>
              <a:effectLst>
                <a:outerShdw blurRad="76200" dist="38100" dir="78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contrasting" dir="t">
                  <a:rot lat="0" lon="0" rev="4200000"/>
                </a:lightRig>
              </a:scene3d>
              <a:sp3d prstMaterial="plastic">
                <a:bevelT w="381000" h="114300" prst="relaxedInset"/>
                <a:contourClr>
                  <a:srgbClr val="969696"/>
                </a:contourClr>
              </a:sp3d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/>
          <p:cNvSpPr txBox="1"/>
          <p:nvPr/>
        </p:nvSpPr>
        <p:spPr>
          <a:xfrm>
            <a:off x="590550" y="495300"/>
            <a:ext cx="11561445" cy="49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lang="es-VE" sz="3200" b="1" i="0" u="none" dirty="0">
                <a:solidFill>
                  <a:srgbClr val="002060"/>
                </a:solidFill>
                <a:latin typeface="Poppins"/>
              </a:rPr>
              <a:t>Análisis y Discusión de Resultados</a:t>
            </a:r>
            <a:endParaRPr sz="3200" b="1" i="0" u="none" dirty="0">
              <a:solidFill>
                <a:srgbClr val="002060"/>
              </a:solidFill>
              <a:latin typeface="Poppins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3" name="Grupo 62">
            <a:extLst>
              <a:ext uri="{FF2B5EF4-FFF2-40B4-BE49-F238E27FC236}">
                <a16:creationId xmlns:a16="http://schemas.microsoft.com/office/drawing/2014/main" id="{8119E540-A7DD-4E21-BF98-9F32E8708697}"/>
              </a:ext>
            </a:extLst>
          </p:cNvPr>
          <p:cNvGrpSpPr/>
          <p:nvPr/>
        </p:nvGrpSpPr>
        <p:grpSpPr>
          <a:xfrm>
            <a:off x="818543" y="1604602"/>
            <a:ext cx="10340429" cy="4395431"/>
            <a:chOff x="818543" y="1604602"/>
            <a:chExt cx="10340429" cy="4395431"/>
          </a:xfrm>
        </p:grpSpPr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18F9802A-4AD0-475E-802F-3CF761B2C81F}"/>
                </a:ext>
              </a:extLst>
            </p:cNvPr>
            <p:cNvGrpSpPr/>
            <p:nvPr/>
          </p:nvGrpSpPr>
          <p:grpSpPr>
            <a:xfrm>
              <a:off x="818543" y="1604602"/>
              <a:ext cx="10340429" cy="4395431"/>
              <a:chOff x="818543" y="1497301"/>
              <a:chExt cx="10340429" cy="4395431"/>
            </a:xfrm>
          </p:grpSpPr>
          <p:grpSp>
            <p:nvGrpSpPr>
              <p:cNvPr id="43" name="Grupo 42">
                <a:extLst>
                  <a:ext uri="{FF2B5EF4-FFF2-40B4-BE49-F238E27FC236}">
                    <a16:creationId xmlns:a16="http://schemas.microsoft.com/office/drawing/2014/main" id="{C777E582-2BB9-4401-967A-904763269F0F}"/>
                  </a:ext>
                </a:extLst>
              </p:cNvPr>
              <p:cNvGrpSpPr/>
              <p:nvPr/>
            </p:nvGrpSpPr>
            <p:grpSpPr>
              <a:xfrm>
                <a:off x="818543" y="4508888"/>
                <a:ext cx="4587328" cy="1383844"/>
                <a:chOff x="1799617" y="2575313"/>
                <a:chExt cx="6308387" cy="1383844"/>
              </a:xfrm>
            </p:grpSpPr>
            <p:sp>
              <p:nvSpPr>
                <p:cNvPr id="3" name="TextBox 2"/>
                <p:cNvSpPr txBox="1"/>
                <p:nvPr/>
              </p:nvSpPr>
              <p:spPr>
                <a:xfrm>
                  <a:off x="2289948" y="2575313"/>
                  <a:ext cx="5314950" cy="2564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>
                    <a:lnSpc>
                      <a:spcPts val="2025"/>
                    </a:lnSpc>
                  </a:pPr>
                  <a:r>
                    <a:rPr b="1" i="0" u="none" dirty="0" err="1">
                      <a:solidFill>
                        <a:srgbClr val="002060"/>
                      </a:solidFill>
                      <a:latin typeface="Poppins SemiBold"/>
                    </a:rPr>
                    <a:t>Tasas</a:t>
                  </a:r>
                  <a:r>
                    <a:rPr b="1" i="0" u="none" dirty="0">
                      <a:solidFill>
                        <a:srgbClr val="002060"/>
                      </a:solidFill>
                      <a:latin typeface="Poppins SemiBold"/>
                    </a:rPr>
                    <a:t> de </a:t>
                  </a:r>
                  <a:r>
                    <a:rPr b="1" i="0" u="none" dirty="0" err="1">
                      <a:solidFill>
                        <a:srgbClr val="002060"/>
                      </a:solidFill>
                      <a:latin typeface="Poppins SemiBold"/>
                    </a:rPr>
                    <a:t>acierto</a:t>
                  </a:r>
                  <a:r>
                    <a:rPr b="1" i="0" u="none" dirty="0">
                      <a:solidFill>
                        <a:srgbClr val="002060"/>
                      </a:solidFill>
                      <a:latin typeface="Poppins SemiBold"/>
                    </a:rPr>
                    <a:t> sin prefetch</a:t>
                  </a:r>
                </a:p>
              </p:txBody>
            </p:sp>
            <p:pic>
              <p:nvPicPr>
                <p:cNvPr id="42" name="Imagen 41">
                  <a:extLst>
                    <a:ext uri="{FF2B5EF4-FFF2-40B4-BE49-F238E27FC236}">
                      <a16:creationId xmlns:a16="http://schemas.microsoft.com/office/drawing/2014/main" id="{862A8692-AC7B-4D00-A190-5A4ABF3B92B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829" t="2447" r="628" b="4040"/>
                <a:stretch/>
              </p:blipFill>
              <p:spPr>
                <a:xfrm>
                  <a:off x="1799617" y="2836717"/>
                  <a:ext cx="6308387" cy="1122440"/>
                </a:xfrm>
                <a:prstGeom prst="roundRect">
                  <a:avLst>
                    <a:gd name="adj" fmla="val 8594"/>
                  </a:avLst>
                </a:prstGeom>
                <a:solidFill>
                  <a:srgbClr val="FFFFFF">
                    <a:shade val="85000"/>
                  </a:srgbClr>
                </a:solidFill>
                <a:ln>
                  <a:noFill/>
                </a:ln>
                <a:effectLst>
                  <a:reflection blurRad="12700" stA="38000" endPos="28000" dist="5000" dir="5400000" sy="-100000" algn="bl" rotWithShape="0"/>
                </a:effectLst>
              </p:spPr>
            </p:pic>
          </p:grpSp>
          <p:grpSp>
            <p:nvGrpSpPr>
              <p:cNvPr id="45" name="Grupo 44">
                <a:extLst>
                  <a:ext uri="{FF2B5EF4-FFF2-40B4-BE49-F238E27FC236}">
                    <a16:creationId xmlns:a16="http://schemas.microsoft.com/office/drawing/2014/main" id="{C5D64DE3-172B-4C0F-95AF-EBC880EEEE6A}"/>
                  </a:ext>
                </a:extLst>
              </p:cNvPr>
              <p:cNvGrpSpPr/>
              <p:nvPr/>
            </p:nvGrpSpPr>
            <p:grpSpPr>
              <a:xfrm>
                <a:off x="6571643" y="4483633"/>
                <a:ext cx="4587329" cy="1409099"/>
                <a:chOff x="2919845" y="2598558"/>
                <a:chExt cx="6308387" cy="1409099"/>
              </a:xfrm>
            </p:grpSpPr>
            <p:sp>
              <p:nvSpPr>
                <p:cNvPr id="5" name="TextBox 4"/>
                <p:cNvSpPr txBox="1"/>
                <p:nvPr/>
              </p:nvSpPr>
              <p:spPr>
                <a:xfrm>
                  <a:off x="3514776" y="2598558"/>
                  <a:ext cx="5314950" cy="25648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>
                    <a:lnSpc>
                      <a:spcPts val="2025"/>
                    </a:lnSpc>
                  </a:pPr>
                  <a:r>
                    <a:rPr b="1" i="0" u="none" dirty="0" err="1">
                      <a:solidFill>
                        <a:srgbClr val="002060"/>
                      </a:solidFill>
                      <a:latin typeface="Poppins SemiBold"/>
                    </a:rPr>
                    <a:t>Tasas</a:t>
                  </a:r>
                  <a:r>
                    <a:rPr b="1" i="0" u="none" dirty="0">
                      <a:solidFill>
                        <a:srgbClr val="002060"/>
                      </a:solidFill>
                      <a:latin typeface="Poppins SemiBold"/>
                    </a:rPr>
                    <a:t> de </a:t>
                  </a:r>
                  <a:r>
                    <a:rPr b="1" i="0" u="none" dirty="0" err="1">
                      <a:solidFill>
                        <a:srgbClr val="002060"/>
                      </a:solidFill>
                      <a:latin typeface="Poppins SemiBold"/>
                    </a:rPr>
                    <a:t>acierto</a:t>
                  </a:r>
                  <a:r>
                    <a:rPr b="1" i="0" u="none" dirty="0">
                      <a:solidFill>
                        <a:srgbClr val="002060"/>
                      </a:solidFill>
                      <a:latin typeface="Poppins SemiBold"/>
                    </a:rPr>
                    <a:t> con prefetch</a:t>
                  </a:r>
                  <a:r>
                    <a:rPr lang="es-VE" b="1" i="0" u="none" dirty="0">
                      <a:solidFill>
                        <a:srgbClr val="002060"/>
                      </a:solidFill>
                      <a:latin typeface="Poppins SemiBold"/>
                    </a:rPr>
                    <a:t> (1 bloque)</a:t>
                  </a:r>
                  <a:endParaRPr b="1" i="0" u="none" dirty="0">
                    <a:solidFill>
                      <a:srgbClr val="002060"/>
                    </a:solidFill>
                    <a:latin typeface="Poppins SemiBold"/>
                  </a:endParaRPr>
                </a:p>
              </p:txBody>
            </p:sp>
            <p:pic>
              <p:nvPicPr>
                <p:cNvPr id="44" name="Imagen 43">
                  <a:extLst>
                    <a:ext uri="{FF2B5EF4-FFF2-40B4-BE49-F238E27FC236}">
                      <a16:creationId xmlns:a16="http://schemas.microsoft.com/office/drawing/2014/main" id="{6D3EB29E-A3E0-443E-AE5F-A9175BC1C3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679" t="3852" r="1361" b="3275"/>
                <a:stretch/>
              </p:blipFill>
              <p:spPr>
                <a:xfrm>
                  <a:off x="2919845" y="2857500"/>
                  <a:ext cx="6308387" cy="1150157"/>
                </a:xfrm>
                <a:prstGeom prst="roundRect">
                  <a:avLst>
                    <a:gd name="adj" fmla="val 8594"/>
                  </a:avLst>
                </a:prstGeom>
                <a:solidFill>
                  <a:srgbClr val="FFFFFF">
                    <a:shade val="85000"/>
                  </a:srgbClr>
                </a:solidFill>
                <a:ln>
                  <a:noFill/>
                </a:ln>
                <a:effectLst>
                  <a:reflection blurRad="12700" stA="38000" endPos="28000" dist="5000" dir="5400000" sy="-100000" algn="bl" rotWithShape="0"/>
                </a:effectLst>
              </p:spPr>
            </p:pic>
          </p:grpSp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6D36BC09-45A3-4C7E-99BD-2A74971B69D6}"/>
                  </a:ext>
                </a:extLst>
              </p:cNvPr>
              <p:cNvGrpSpPr/>
              <p:nvPr/>
            </p:nvGrpSpPr>
            <p:grpSpPr>
              <a:xfrm>
                <a:off x="2131790" y="1497301"/>
                <a:ext cx="7928420" cy="2542358"/>
                <a:chOff x="1743555" y="1462865"/>
                <a:chExt cx="7928420" cy="2542358"/>
              </a:xfrm>
            </p:grpSpPr>
            <p:sp>
              <p:nvSpPr>
                <p:cNvPr id="40" name="TextBox 5">
                  <a:extLst>
                    <a:ext uri="{FF2B5EF4-FFF2-40B4-BE49-F238E27FC236}">
                      <a16:creationId xmlns:a16="http://schemas.microsoft.com/office/drawing/2014/main" id="{09D1676A-1C09-49FD-A748-19BC3FA42291}"/>
                    </a:ext>
                  </a:extLst>
                </p:cNvPr>
                <p:cNvSpPr txBox="1"/>
                <p:nvPr/>
              </p:nvSpPr>
              <p:spPr>
                <a:xfrm>
                  <a:off x="1743555" y="1462865"/>
                  <a:ext cx="4627717" cy="50295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just">
                    <a:lnSpc>
                      <a:spcPts val="2025"/>
                    </a:lnSpc>
                  </a:pPr>
                  <a:r>
                    <a:rPr lang="es-ES" sz="1600" dirty="0"/>
                    <a:t>Evaluación del comportamiento de la caché bajo diferentes condiciones de localidad espacial y temporal:</a:t>
                  </a:r>
                  <a:endParaRPr sz="1600" b="0" i="0" u="none" dirty="0">
                    <a:latin typeface="Poppins"/>
                  </a:endParaRPr>
                </a:p>
              </p:txBody>
            </p:sp>
            <p:grpSp>
              <p:nvGrpSpPr>
                <p:cNvPr id="48" name="Grupo 47">
                  <a:extLst>
                    <a:ext uri="{FF2B5EF4-FFF2-40B4-BE49-F238E27FC236}">
                      <a16:creationId xmlns:a16="http://schemas.microsoft.com/office/drawing/2014/main" id="{9B05AC62-129E-4B99-B8F5-384DD1377391}"/>
                    </a:ext>
                  </a:extLst>
                </p:cNvPr>
                <p:cNvGrpSpPr/>
                <p:nvPr/>
              </p:nvGrpSpPr>
              <p:grpSpPr>
                <a:xfrm>
                  <a:off x="3755778" y="2149830"/>
                  <a:ext cx="5398590" cy="584775"/>
                  <a:chOff x="2740981" y="3244333"/>
                  <a:chExt cx="5398590" cy="584775"/>
                </a:xfrm>
              </p:grpSpPr>
              <p:pic>
                <p:nvPicPr>
                  <p:cNvPr id="41" name="Picture 8" descr="image.png">
                    <a:extLst>
                      <a:ext uri="{FF2B5EF4-FFF2-40B4-BE49-F238E27FC236}">
                        <a16:creationId xmlns:a16="http://schemas.microsoft.com/office/drawing/2014/main" id="{CBA2A30C-07A5-4083-BCAE-E8B145382D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duotone>
                      <a:schemeClr val="accent4">
                        <a:shade val="45000"/>
                        <a:satMod val="135000"/>
                      </a:schemeClr>
                      <a:prstClr val="white"/>
                    </a:duotone>
                  </a:blip>
                  <a:stretch>
                    <a:fillRect/>
                  </a:stretch>
                </p:blipFill>
                <p:spPr>
                  <a:xfrm>
                    <a:off x="2740981" y="3328987"/>
                    <a:ext cx="203473" cy="200025"/>
                  </a:xfrm>
                  <a:prstGeom prst="rect">
                    <a:avLst/>
                  </a:prstGeom>
                </p:spPr>
              </p:pic>
              <p:sp>
                <p:nvSpPr>
                  <p:cNvPr id="46" name="Rectángulo 45">
                    <a:extLst>
                      <a:ext uri="{FF2B5EF4-FFF2-40B4-BE49-F238E27FC236}">
                        <a16:creationId xmlns:a16="http://schemas.microsoft.com/office/drawing/2014/main" id="{D58C7ECB-923C-48D8-8034-A7ADED80AB91}"/>
                      </a:ext>
                    </a:extLst>
                  </p:cNvPr>
                  <p:cNvSpPr/>
                  <p:nvPr/>
                </p:nvSpPr>
                <p:spPr>
                  <a:xfrm>
                    <a:off x="2944454" y="3244333"/>
                    <a:ext cx="5195117" cy="584775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just"/>
                    <a:r>
                      <a:rPr lang="es-ES" sz="1600" b="1" dirty="0">
                        <a:solidFill>
                          <a:srgbClr val="002060"/>
                        </a:solidFill>
                      </a:rPr>
                      <a:t>Secuencias evaluadas:</a:t>
                    </a:r>
                    <a:r>
                      <a:rPr lang="es-ES" sz="1600" dirty="0">
                        <a:solidFill>
                          <a:srgbClr val="002060"/>
                        </a:solidFill>
                      </a:rPr>
                      <a:t> </a:t>
                    </a:r>
                    <a:r>
                      <a:rPr lang="es-ES" sz="1600" dirty="0"/>
                      <a:t>Se utilizaron secuencias de 30 accesos a memoria.</a:t>
                    </a:r>
                    <a:endParaRPr lang="es-VE" sz="1600" dirty="0"/>
                  </a:p>
                </p:txBody>
              </p:sp>
            </p:grpSp>
            <p:grpSp>
              <p:nvGrpSpPr>
                <p:cNvPr id="50" name="Grupo 49">
                  <a:extLst>
                    <a:ext uri="{FF2B5EF4-FFF2-40B4-BE49-F238E27FC236}">
                      <a16:creationId xmlns:a16="http://schemas.microsoft.com/office/drawing/2014/main" id="{7689BA1A-594B-48DE-A25D-B1BDAFC7EBB6}"/>
                    </a:ext>
                  </a:extLst>
                </p:cNvPr>
                <p:cNvGrpSpPr/>
                <p:nvPr/>
              </p:nvGrpSpPr>
              <p:grpSpPr>
                <a:xfrm>
                  <a:off x="3755778" y="2760292"/>
                  <a:ext cx="5916197" cy="584775"/>
                  <a:chOff x="2735760" y="3561761"/>
                  <a:chExt cx="5916197" cy="584775"/>
                </a:xfrm>
              </p:grpSpPr>
              <p:sp>
                <p:nvSpPr>
                  <p:cNvPr id="47" name="Rectángulo 46">
                    <a:extLst>
                      <a:ext uri="{FF2B5EF4-FFF2-40B4-BE49-F238E27FC236}">
                        <a16:creationId xmlns:a16="http://schemas.microsoft.com/office/drawing/2014/main" id="{776FC40D-145F-4E11-A9EE-CFAA0168BD7E}"/>
                      </a:ext>
                    </a:extLst>
                  </p:cNvPr>
                  <p:cNvSpPr/>
                  <p:nvPr/>
                </p:nvSpPr>
                <p:spPr>
                  <a:xfrm>
                    <a:off x="2948758" y="3561761"/>
                    <a:ext cx="5703199" cy="584775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just"/>
                    <a:r>
                      <a:rPr lang="es-ES" sz="1600" b="1" dirty="0">
                        <a:solidFill>
                          <a:srgbClr val="002060"/>
                        </a:solidFill>
                      </a:rPr>
                      <a:t>Configuraciones de la caché:</a:t>
                    </a:r>
                    <a:r>
                      <a:rPr lang="es-ES" sz="1600" dirty="0">
                        <a:solidFill>
                          <a:srgbClr val="002060"/>
                        </a:solidFill>
                      </a:rPr>
                      <a:t> </a:t>
                    </a:r>
                    <a:r>
                      <a:rPr lang="es-ES" sz="1600" dirty="0"/>
                      <a:t>Se probaron diseños de 1, 2, 4 y 8 vías, manteniendo siempre un total constante de 16 bloques.</a:t>
                    </a:r>
                    <a:endParaRPr lang="es-VE" sz="1600" dirty="0"/>
                  </a:p>
                </p:txBody>
              </p:sp>
              <p:pic>
                <p:nvPicPr>
                  <p:cNvPr id="49" name="Picture 8" descr="image.png">
                    <a:extLst>
                      <a:ext uri="{FF2B5EF4-FFF2-40B4-BE49-F238E27FC236}">
                        <a16:creationId xmlns:a16="http://schemas.microsoft.com/office/drawing/2014/main" id="{055BB7DD-0AD6-43C5-AB9E-D3E550D6EB0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duotone>
                      <a:schemeClr val="accent4">
                        <a:shade val="45000"/>
                        <a:satMod val="135000"/>
                      </a:schemeClr>
                      <a:prstClr val="white"/>
                    </a:duotone>
                  </a:blip>
                  <a:stretch>
                    <a:fillRect/>
                  </a:stretch>
                </p:blipFill>
                <p:spPr>
                  <a:xfrm>
                    <a:off x="2735760" y="3762027"/>
                    <a:ext cx="203473" cy="200025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53" name="Grupo 52">
                  <a:extLst>
                    <a:ext uri="{FF2B5EF4-FFF2-40B4-BE49-F238E27FC236}">
                      <a16:creationId xmlns:a16="http://schemas.microsoft.com/office/drawing/2014/main" id="{8D6083BD-45CA-4F91-8100-3212DA113EB3}"/>
                    </a:ext>
                  </a:extLst>
                </p:cNvPr>
                <p:cNvGrpSpPr/>
                <p:nvPr/>
              </p:nvGrpSpPr>
              <p:grpSpPr>
                <a:xfrm>
                  <a:off x="3765303" y="3420448"/>
                  <a:ext cx="5617665" cy="584775"/>
                  <a:chOff x="2592885" y="3105835"/>
                  <a:chExt cx="5617665" cy="584775"/>
                </a:xfrm>
              </p:grpSpPr>
              <p:sp>
                <p:nvSpPr>
                  <p:cNvPr id="51" name="Rectángulo 50">
                    <a:extLst>
                      <a:ext uri="{FF2B5EF4-FFF2-40B4-BE49-F238E27FC236}">
                        <a16:creationId xmlns:a16="http://schemas.microsoft.com/office/drawing/2014/main" id="{9E9A41BB-7B23-4E62-9843-28A422F0F852}"/>
                      </a:ext>
                    </a:extLst>
                  </p:cNvPr>
                  <p:cNvSpPr/>
                  <p:nvPr/>
                </p:nvSpPr>
                <p:spPr>
                  <a:xfrm>
                    <a:off x="2831201" y="3105835"/>
                    <a:ext cx="5379349" cy="584775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just"/>
                    <a:r>
                      <a:rPr lang="es-ES" sz="1600" b="1" dirty="0">
                        <a:solidFill>
                          <a:srgbClr val="002060"/>
                        </a:solidFill>
                      </a:rPr>
                      <a:t>Técnica adicional:</a:t>
                    </a:r>
                    <a:r>
                      <a:rPr lang="es-ES" sz="1600" dirty="0">
                        <a:solidFill>
                          <a:srgbClr val="002060"/>
                        </a:solidFill>
                      </a:rPr>
                      <a:t> </a:t>
                    </a:r>
                    <a:r>
                      <a:rPr lang="es-ES" sz="1600" dirty="0"/>
                      <a:t>Se realizaron pruebas tanto con </a:t>
                    </a:r>
                    <a:r>
                      <a:rPr lang="es-ES" sz="1600" dirty="0" err="1"/>
                      <a:t>prefetch</a:t>
                    </a:r>
                    <a:r>
                      <a:rPr lang="es-ES" sz="1600" dirty="0"/>
                      <a:t> de 1 bloque como sin él.</a:t>
                    </a:r>
                    <a:endParaRPr lang="es-VE" sz="1600" dirty="0"/>
                  </a:p>
                </p:txBody>
              </p:sp>
              <p:pic>
                <p:nvPicPr>
                  <p:cNvPr id="52" name="Picture 8" descr="image.png">
                    <a:extLst>
                      <a:ext uri="{FF2B5EF4-FFF2-40B4-BE49-F238E27FC236}">
                        <a16:creationId xmlns:a16="http://schemas.microsoft.com/office/drawing/2014/main" id="{6304C622-D210-43F6-8814-9870E45B75C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duotone>
                      <a:schemeClr val="accent4">
                        <a:shade val="45000"/>
                        <a:satMod val="135000"/>
                      </a:schemeClr>
                      <a:prstClr val="white"/>
                    </a:duotone>
                  </a:blip>
                  <a:stretch>
                    <a:fillRect/>
                  </a:stretch>
                </p:blipFill>
                <p:spPr>
                  <a:xfrm>
                    <a:off x="2592885" y="3253244"/>
                    <a:ext cx="203473" cy="200025"/>
                  </a:xfrm>
                  <a:prstGeom prst="rect">
                    <a:avLst/>
                  </a:prstGeom>
                </p:spPr>
              </p:pic>
            </p:grpSp>
          </p:grpSp>
          <p:cxnSp>
            <p:nvCxnSpPr>
              <p:cNvPr id="56" name="Conector: angular 55">
                <a:extLst>
                  <a:ext uri="{FF2B5EF4-FFF2-40B4-BE49-F238E27FC236}">
                    <a16:creationId xmlns:a16="http://schemas.microsoft.com/office/drawing/2014/main" id="{CC1D00AE-0116-48A7-8532-32B510A253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49263" y="2468188"/>
                <a:ext cx="930923" cy="695148"/>
              </a:xfrm>
              <a:prstGeom prst="bentConnector3">
                <a:avLst/>
              </a:prstGeom>
              <a:ln>
                <a:solidFill>
                  <a:srgbClr val="2D61CB"/>
                </a:solidFill>
                <a:tailEnd type="triangl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D2170F9F-DB4F-47B4-B063-0F92BB4802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9263" y="2473707"/>
              <a:ext cx="0" cy="99257"/>
            </a:xfrm>
            <a:prstGeom prst="line">
              <a:avLst/>
            </a:prstGeom>
            <a:ln>
              <a:solidFill>
                <a:srgbClr val="2D61C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upo 19">
            <a:extLst>
              <a:ext uri="{FF2B5EF4-FFF2-40B4-BE49-F238E27FC236}">
                <a16:creationId xmlns:a16="http://schemas.microsoft.com/office/drawing/2014/main" id="{8C190115-398A-4C3C-8074-3F2B49BA5DE4}"/>
              </a:ext>
            </a:extLst>
          </p:cNvPr>
          <p:cNvGrpSpPr/>
          <p:nvPr/>
        </p:nvGrpSpPr>
        <p:grpSpPr>
          <a:xfrm>
            <a:off x="1888089" y="1721076"/>
            <a:ext cx="8415821" cy="3532509"/>
            <a:chOff x="2105158" y="1721076"/>
            <a:chExt cx="7404445" cy="3532509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1493BCA1-C658-44D9-981D-E089F0817E34}"/>
                </a:ext>
              </a:extLst>
            </p:cNvPr>
            <p:cNvGrpSpPr/>
            <p:nvPr/>
          </p:nvGrpSpPr>
          <p:grpSpPr>
            <a:xfrm>
              <a:off x="2105158" y="2358174"/>
              <a:ext cx="7404445" cy="2895411"/>
              <a:chOff x="1809774" y="3018322"/>
              <a:chExt cx="7404445" cy="2895411"/>
            </a:xfrm>
          </p:grpSpPr>
          <p:pic>
            <p:nvPicPr>
              <p:cNvPr id="8" name="Picture 7" descr="image.png"/>
              <p:cNvPicPr>
                <a:picLocks noChangeAspect="1"/>
              </p:cNvPicPr>
              <p:nvPr/>
            </p:nvPicPr>
            <p:blipFill>
              <a:blip r:embed="rId2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825680" y="3869132"/>
                <a:ext cx="146113" cy="176908"/>
              </a:xfrm>
              <a:prstGeom prst="rect">
                <a:avLst/>
              </a:prstGeom>
            </p:spPr>
          </p:pic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AAEF73C9-0E3E-4211-9AE7-78F1B379AB32}"/>
                  </a:ext>
                </a:extLst>
              </p:cNvPr>
              <p:cNvGrpSpPr/>
              <p:nvPr/>
            </p:nvGrpSpPr>
            <p:grpSpPr>
              <a:xfrm>
                <a:off x="1809774" y="3018322"/>
                <a:ext cx="7404445" cy="2895411"/>
                <a:chOff x="647711" y="2214968"/>
                <a:chExt cx="11101866" cy="2895411"/>
              </a:xfrm>
            </p:grpSpPr>
            <p:sp>
              <p:nvSpPr>
                <p:cNvPr id="3" name="TextBox 2"/>
                <p:cNvSpPr txBox="1"/>
                <p:nvPr/>
              </p:nvSpPr>
              <p:spPr>
                <a:xfrm>
                  <a:off x="1072051" y="2214968"/>
                  <a:ext cx="10677526" cy="51296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just">
                    <a:lnSpc>
                      <a:spcPts val="2025"/>
                    </a:lnSpc>
                  </a:pPr>
                  <a:r>
                    <a:rPr sz="1600" b="1" i="0" u="none" dirty="0" err="1">
                      <a:solidFill>
                        <a:srgbClr val="002060"/>
                      </a:solidFill>
                      <a:latin typeface="Poppins"/>
                    </a:rPr>
                    <a:t>Impacto</a:t>
                  </a:r>
                  <a:r>
                    <a:rPr sz="1600" b="1" i="0" u="none" dirty="0">
                      <a:solidFill>
                        <a:srgbClr val="002060"/>
                      </a:solidFill>
                      <a:latin typeface="Poppins"/>
                    </a:rPr>
                    <a:t> del Prefetch:</a:t>
                  </a:r>
                  <a:r>
                    <a:rPr sz="1600" b="0" i="0" u="none" dirty="0">
                      <a:solidFill>
                        <a:srgbClr val="002060"/>
                      </a:solidFill>
                      <a:latin typeface="Poppins"/>
                    </a:rPr>
                    <a:t> </a:t>
                  </a:r>
                  <a:r>
                    <a:rPr lang="es-ES" sz="1600" dirty="0"/>
                    <a:t>Mejora notablemente los aciertos cuando existe localidad espacial, pero no aporta beneficios en secuencias aleatorias e impredecibles</a:t>
                  </a:r>
                  <a:endParaRPr sz="1600" b="0" i="0" u="none" dirty="0">
                    <a:latin typeface="Poppins"/>
                  </a:endParaRPr>
                </a:p>
              </p:txBody>
            </p:sp>
            <p:sp>
              <p:nvSpPr>
                <p:cNvPr id="4" name="TextBox 3"/>
                <p:cNvSpPr txBox="1"/>
                <p:nvPr/>
              </p:nvSpPr>
              <p:spPr>
                <a:xfrm>
                  <a:off x="1072050" y="3021983"/>
                  <a:ext cx="10677525" cy="51296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just">
                    <a:lnSpc>
                      <a:spcPts val="2025"/>
                    </a:lnSpc>
                  </a:pPr>
                  <a:r>
                    <a:rPr sz="1600" b="1" i="0" u="none" dirty="0" err="1">
                      <a:solidFill>
                        <a:srgbClr val="002060"/>
                      </a:solidFill>
                      <a:latin typeface="Poppins"/>
                    </a:rPr>
                    <a:t>Localidad</a:t>
                  </a:r>
                  <a:r>
                    <a:rPr sz="1600" b="1" i="0" u="none" dirty="0">
                      <a:solidFill>
                        <a:srgbClr val="002060"/>
                      </a:solidFill>
                      <a:latin typeface="Poppins"/>
                    </a:rPr>
                    <a:t> Temporal:</a:t>
                  </a:r>
                  <a:r>
                    <a:rPr sz="1600" b="0" i="0" u="none" dirty="0">
                      <a:solidFill>
                        <a:srgbClr val="002060"/>
                      </a:solidFill>
                      <a:latin typeface="Poppins"/>
                    </a:rPr>
                    <a:t> </a:t>
                  </a:r>
                  <a:r>
                    <a:rPr lang="es-ES" sz="1600" dirty="0"/>
                    <a:t>La localidad temporal mediante la repetición de direcciones es el factor más determinante, logrando hasta un 96.67% de aciertos con </a:t>
                  </a:r>
                  <a:r>
                    <a:rPr lang="es-ES" sz="1600" dirty="0" err="1"/>
                    <a:t>prefetch</a:t>
                  </a:r>
                  <a:endParaRPr sz="1600" b="0" i="0" u="none" dirty="0">
                    <a:latin typeface="Poppins"/>
                  </a:endParaRPr>
                </a:p>
              </p:txBody>
            </p:sp>
            <p:sp>
              <p:nvSpPr>
                <p:cNvPr id="5" name="TextBox 4"/>
                <p:cNvSpPr txBox="1"/>
                <p:nvPr/>
              </p:nvSpPr>
              <p:spPr>
                <a:xfrm>
                  <a:off x="1072052" y="3786187"/>
                  <a:ext cx="10677525" cy="50295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just">
                    <a:lnSpc>
                      <a:spcPts val="2025"/>
                    </a:lnSpc>
                  </a:pPr>
                  <a:r>
                    <a:rPr sz="1600" b="1" i="0" u="none" dirty="0" err="1">
                      <a:solidFill>
                        <a:srgbClr val="002060"/>
                      </a:solidFill>
                      <a:latin typeface="Poppins"/>
                    </a:rPr>
                    <a:t>Accesos</a:t>
                  </a:r>
                  <a:r>
                    <a:rPr sz="1600" b="1" i="0" u="none" dirty="0">
                      <a:solidFill>
                        <a:srgbClr val="002060"/>
                      </a:solidFill>
                      <a:latin typeface="Poppins"/>
                    </a:rPr>
                    <a:t> </a:t>
                  </a:r>
                  <a:r>
                    <a:rPr sz="1600" b="1" i="0" u="none" dirty="0" err="1">
                      <a:solidFill>
                        <a:srgbClr val="002060"/>
                      </a:solidFill>
                      <a:latin typeface="Poppins"/>
                    </a:rPr>
                    <a:t>Aleatorios</a:t>
                  </a:r>
                  <a:r>
                    <a:rPr sz="1600" b="1" i="0" u="none" dirty="0">
                      <a:solidFill>
                        <a:srgbClr val="002060"/>
                      </a:solidFill>
                      <a:latin typeface="Poppins"/>
                    </a:rPr>
                    <a:t>:</a:t>
                  </a:r>
                  <a:r>
                    <a:rPr sz="1600" b="0" i="0" u="none" dirty="0">
                      <a:solidFill>
                        <a:srgbClr val="002060"/>
                      </a:solidFill>
                      <a:latin typeface="Poppins"/>
                    </a:rPr>
                    <a:t> </a:t>
                  </a:r>
                  <a:r>
                    <a:rPr sz="1600" b="0" i="0" u="none" dirty="0">
                      <a:latin typeface="Poppins"/>
                    </a:rPr>
                    <a:t>El prefetch </a:t>
                  </a:r>
                  <a:r>
                    <a:rPr sz="1600" b="0" i="0" u="none" dirty="0" err="1">
                      <a:latin typeface="Poppins"/>
                    </a:rPr>
                    <a:t>pierde</a:t>
                  </a:r>
                  <a:r>
                    <a:rPr sz="1600" b="0" i="0" u="none" dirty="0">
                      <a:latin typeface="Poppins"/>
                    </a:rPr>
                    <a:t> </a:t>
                  </a:r>
                  <a:r>
                    <a:rPr sz="1600" b="0" i="0" u="none" dirty="0" err="1">
                      <a:latin typeface="Poppins"/>
                    </a:rPr>
                    <a:t>efectividad</a:t>
                  </a:r>
                  <a:r>
                    <a:rPr sz="1600" b="0" i="0" u="none" dirty="0">
                      <a:latin typeface="Poppins"/>
                    </a:rPr>
                    <a:t> y no </a:t>
                  </a:r>
                  <a:r>
                    <a:rPr sz="1600" b="0" i="0" u="none" dirty="0" err="1">
                      <a:latin typeface="Poppins"/>
                    </a:rPr>
                    <a:t>aporta</a:t>
                  </a:r>
                  <a:r>
                    <a:rPr sz="1600" b="0" i="0" u="none" dirty="0">
                      <a:latin typeface="Poppins"/>
                    </a:rPr>
                    <a:t> </a:t>
                  </a:r>
                  <a:r>
                    <a:rPr sz="1600" b="0" i="0" u="none" dirty="0" err="1">
                      <a:latin typeface="Poppins"/>
                    </a:rPr>
                    <a:t>beneficio</a:t>
                  </a:r>
                  <a:r>
                    <a:rPr sz="1600" b="0" i="0" u="none" dirty="0">
                      <a:latin typeface="Poppins"/>
                    </a:rPr>
                    <a:t> real ante </a:t>
                  </a:r>
                  <a:r>
                    <a:rPr sz="1600" b="0" i="0" u="none" dirty="0" err="1">
                      <a:latin typeface="Poppins"/>
                    </a:rPr>
                    <a:t>secuencias</a:t>
                  </a:r>
                  <a:r>
                    <a:rPr sz="1600" b="0" i="0" u="none" dirty="0">
                      <a:latin typeface="Poppins"/>
                    </a:rPr>
                    <a:t> </a:t>
                  </a:r>
                  <a:r>
                    <a:rPr sz="1600" b="0" i="0" u="none" dirty="0" err="1">
                      <a:latin typeface="Poppins"/>
                    </a:rPr>
                    <a:t>dispersas</a:t>
                  </a:r>
                  <a:r>
                    <a:rPr sz="1600" b="0" i="0" u="none" dirty="0">
                      <a:latin typeface="Poppins"/>
                    </a:rPr>
                    <a:t> o sin </a:t>
                  </a:r>
                  <a:r>
                    <a:rPr sz="1600" b="0" i="0" u="none" dirty="0" err="1">
                      <a:latin typeface="Poppins"/>
                    </a:rPr>
                    <a:t>orden</a:t>
                  </a:r>
                  <a:r>
                    <a:rPr sz="1600" b="0" i="0" u="none" dirty="0">
                      <a:latin typeface="Poppins"/>
                    </a:rPr>
                    <a:t> </a:t>
                  </a:r>
                  <a:r>
                    <a:rPr sz="1600" b="0" i="0" u="none" dirty="0" err="1">
                      <a:latin typeface="Poppins"/>
                    </a:rPr>
                    <a:t>lógico</a:t>
                  </a:r>
                  <a:endParaRPr sz="1600" b="0" i="0" u="none" dirty="0">
                    <a:latin typeface="Poppins"/>
                  </a:endParaRPr>
                </a:p>
              </p:txBody>
            </p:sp>
            <p:sp>
              <p:nvSpPr>
                <p:cNvPr id="6" name="TextBox 5"/>
                <p:cNvSpPr txBox="1"/>
                <p:nvPr/>
              </p:nvSpPr>
              <p:spPr>
                <a:xfrm>
                  <a:off x="1072052" y="4597418"/>
                  <a:ext cx="10677525" cy="51296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just">
                    <a:lnSpc>
                      <a:spcPts val="2025"/>
                    </a:lnSpc>
                  </a:pPr>
                  <a:r>
                    <a:rPr sz="1600" b="1" i="0" u="none" dirty="0" err="1">
                      <a:solidFill>
                        <a:srgbClr val="002060"/>
                      </a:solidFill>
                      <a:latin typeface="Poppins"/>
                    </a:rPr>
                    <a:t>Rendimiento</a:t>
                  </a:r>
                  <a:r>
                    <a:rPr sz="1600" b="1" i="0" u="none" dirty="0">
                      <a:solidFill>
                        <a:srgbClr val="002060"/>
                      </a:solidFill>
                      <a:latin typeface="Poppins"/>
                    </a:rPr>
                    <a:t> por </a:t>
                  </a:r>
                  <a:r>
                    <a:rPr sz="1600" b="1" i="0" u="none" dirty="0" err="1">
                      <a:solidFill>
                        <a:srgbClr val="002060"/>
                      </a:solidFill>
                      <a:latin typeface="Poppins"/>
                    </a:rPr>
                    <a:t>Vías</a:t>
                  </a:r>
                  <a:r>
                    <a:rPr sz="1600" b="1" i="0" u="none" dirty="0">
                      <a:solidFill>
                        <a:srgbClr val="002060"/>
                      </a:solidFill>
                      <a:latin typeface="Poppins"/>
                    </a:rPr>
                    <a:t>:</a:t>
                  </a:r>
                  <a:r>
                    <a:rPr sz="1600" b="0" i="0" u="none" dirty="0">
                      <a:solidFill>
                        <a:srgbClr val="002060"/>
                      </a:solidFill>
                      <a:latin typeface="Poppins"/>
                    </a:rPr>
                    <a:t> </a:t>
                  </a:r>
                  <a:r>
                    <a:rPr lang="es-ES" sz="1600" dirty="0"/>
                    <a:t>La caché de 8 vías proporciona la mayor flexibilidad y un rendimiento superior en todos los escenarios evaluados</a:t>
                  </a:r>
                  <a:endParaRPr sz="1600" b="0" i="0" u="none" dirty="0">
                    <a:latin typeface="Poppins"/>
                  </a:endParaRPr>
                </a:p>
              </p:txBody>
            </p:sp>
            <p:pic>
              <p:nvPicPr>
                <p:cNvPr id="7" name="Picture 6" descr="image.png"/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676274" y="2264430"/>
                  <a:ext cx="171449" cy="200025"/>
                </a:xfrm>
                <a:prstGeom prst="rect">
                  <a:avLst/>
                </a:prstGeom>
              </p:spPr>
            </p:pic>
            <p:pic>
              <p:nvPicPr>
                <p:cNvPr id="9" name="Picture 8" descr="image.png"/>
                <p:cNvPicPr>
                  <a:picLocks noChangeAspect="1"/>
                </p:cNvPicPr>
                <p:nvPr/>
              </p:nvPicPr>
              <p:blipFill>
                <a:blip r:embed="rId4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647711" y="3832640"/>
                  <a:ext cx="190500" cy="200025"/>
                </a:xfrm>
                <a:prstGeom prst="rect">
                  <a:avLst/>
                </a:prstGeom>
              </p:spPr>
            </p:pic>
            <p:pic>
              <p:nvPicPr>
                <p:cNvPr id="10" name="Picture 9" descr="image.png"/>
                <p:cNvPicPr>
                  <a:picLocks noChangeAspect="1"/>
                </p:cNvPicPr>
                <p:nvPr/>
              </p:nvPicPr>
              <p:blipFill>
                <a:blip r:embed="rId5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652459" y="4644145"/>
                  <a:ext cx="219075" cy="200025"/>
                </a:xfrm>
                <a:prstGeom prst="rect">
                  <a:avLst/>
                </a:prstGeom>
              </p:spPr>
            </p:pic>
          </p:grpSp>
        </p:grp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EE1AA133-3266-435E-9900-94B1C08224A7}"/>
                </a:ext>
              </a:extLst>
            </p:cNvPr>
            <p:cNvSpPr/>
            <p:nvPr/>
          </p:nvSpPr>
          <p:spPr>
            <a:xfrm>
              <a:off x="4095484" y="1721076"/>
              <a:ext cx="400103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600" dirty="0"/>
                <a:t>Los experimentos realizados demuestran que:</a:t>
              </a:r>
              <a:endParaRPr lang="es-VE" sz="1600" dirty="0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90550" y="495300"/>
            <a:ext cx="1156144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3200" b="1" i="0" dirty="0" err="1">
                <a:solidFill>
                  <a:srgbClr val="002060"/>
                </a:solidFill>
                <a:latin typeface="Poppins"/>
              </a:rPr>
              <a:t>Conclusione</a:t>
            </a:r>
            <a:r>
              <a:rPr lang="es-VE" sz="3200" b="1" i="0" dirty="0">
                <a:solidFill>
                  <a:srgbClr val="002060"/>
                </a:solidFill>
                <a:latin typeface="Poppins"/>
              </a:rPr>
              <a:t>s</a:t>
            </a:r>
            <a:endParaRPr sz="3200" b="1" i="0" dirty="0">
              <a:solidFill>
                <a:srgbClr val="002060"/>
              </a:solidFill>
              <a:latin typeface="Poppin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90550" y="1152525"/>
            <a:ext cx="11010900" cy="2857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u="sng" dirty="0"/>
          </a:p>
        </p:txBody>
      </p:sp>
      <p:grpSp>
        <p:nvGrpSpPr>
          <p:cNvPr id="37" name="Grupo 36">
            <a:extLst>
              <a:ext uri="{FF2B5EF4-FFF2-40B4-BE49-F238E27FC236}">
                <a16:creationId xmlns:a16="http://schemas.microsoft.com/office/drawing/2014/main" id="{4F51F549-7156-47F6-AD32-EC40493DE6B0}"/>
              </a:ext>
            </a:extLst>
          </p:cNvPr>
          <p:cNvGrpSpPr/>
          <p:nvPr/>
        </p:nvGrpSpPr>
        <p:grpSpPr>
          <a:xfrm>
            <a:off x="778428" y="1686306"/>
            <a:ext cx="10635143" cy="4316595"/>
            <a:chOff x="778428" y="1681267"/>
            <a:chExt cx="10635143" cy="4316595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AD6CFD82-A97C-4F8B-96B1-DF03B85666E5}"/>
                </a:ext>
              </a:extLst>
            </p:cNvPr>
            <p:cNvGrpSpPr/>
            <p:nvPr/>
          </p:nvGrpSpPr>
          <p:grpSpPr>
            <a:xfrm>
              <a:off x="778428" y="1681267"/>
              <a:ext cx="10635143" cy="4316595"/>
              <a:chOff x="847725" y="1681267"/>
              <a:chExt cx="10635143" cy="4316595"/>
            </a:xfrm>
          </p:grpSpPr>
          <p:grpSp>
            <p:nvGrpSpPr>
              <p:cNvPr id="25" name="Grupo 24">
                <a:extLst>
                  <a:ext uri="{FF2B5EF4-FFF2-40B4-BE49-F238E27FC236}">
                    <a16:creationId xmlns:a16="http://schemas.microsoft.com/office/drawing/2014/main" id="{E1728F18-74FA-465D-A905-C433691EB217}"/>
                  </a:ext>
                </a:extLst>
              </p:cNvPr>
              <p:cNvGrpSpPr/>
              <p:nvPr/>
            </p:nvGrpSpPr>
            <p:grpSpPr>
              <a:xfrm>
                <a:off x="847725" y="2757249"/>
                <a:ext cx="5026342" cy="2079732"/>
                <a:chOff x="847725" y="2871401"/>
                <a:chExt cx="5026342" cy="2079732"/>
              </a:xfrm>
            </p:grpSpPr>
            <p:sp>
              <p:nvSpPr>
                <p:cNvPr id="5" name="TextBox 4"/>
                <p:cNvSpPr txBox="1"/>
                <p:nvPr/>
              </p:nvSpPr>
              <p:spPr>
                <a:xfrm>
                  <a:off x="1133475" y="2871401"/>
                  <a:ext cx="474059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just"/>
                  <a:r>
                    <a:rPr b="1" i="0" u="none" dirty="0" err="1">
                      <a:solidFill>
                        <a:srgbClr val="002060"/>
                      </a:solidFill>
                      <a:latin typeface="Poppins"/>
                    </a:rPr>
                    <a:t>Logros</a:t>
                  </a:r>
                  <a:r>
                    <a:rPr b="1" i="0" u="none" dirty="0">
                      <a:solidFill>
                        <a:srgbClr val="002060"/>
                      </a:solidFill>
                      <a:latin typeface="Poppins"/>
                    </a:rPr>
                    <a:t> y </a:t>
                  </a:r>
                  <a:r>
                    <a:rPr b="1" i="0" u="none" dirty="0" err="1">
                      <a:solidFill>
                        <a:srgbClr val="002060"/>
                      </a:solidFill>
                      <a:latin typeface="Poppins"/>
                    </a:rPr>
                    <a:t>Aprendizajes</a:t>
                  </a:r>
                  <a:endParaRPr b="1" i="0" u="none" dirty="0">
                    <a:solidFill>
                      <a:srgbClr val="002060"/>
                    </a:solidFill>
                    <a:latin typeface="Poppins"/>
                  </a:endParaRPr>
                </a:p>
              </p:txBody>
            </p:sp>
            <p:pic>
              <p:nvPicPr>
                <p:cNvPr id="7" name="Picture 6" descr="image.png"/>
                <p:cNvPicPr>
                  <a:picLocks noChangeAspect="1"/>
                </p:cNvPicPr>
                <p:nvPr/>
              </p:nvPicPr>
              <p:blipFill>
                <a:blip r:embed="rId2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847725" y="2914650"/>
                  <a:ext cx="190500" cy="190500"/>
                </a:xfrm>
                <a:prstGeom prst="rect">
                  <a:avLst/>
                </a:prstGeom>
              </p:spPr>
            </p:pic>
            <p:grpSp>
              <p:nvGrpSpPr>
                <p:cNvPr id="23" name="Grupo 22">
                  <a:extLst>
                    <a:ext uri="{FF2B5EF4-FFF2-40B4-BE49-F238E27FC236}">
                      <a16:creationId xmlns:a16="http://schemas.microsoft.com/office/drawing/2014/main" id="{24AFBEA0-6AF2-4CB1-AF43-C764942B4E5E}"/>
                    </a:ext>
                  </a:extLst>
                </p:cNvPr>
                <p:cNvGrpSpPr/>
                <p:nvPr/>
              </p:nvGrpSpPr>
              <p:grpSpPr>
                <a:xfrm>
                  <a:off x="971550" y="3267075"/>
                  <a:ext cx="4676775" cy="1684058"/>
                  <a:chOff x="971550" y="3267075"/>
                  <a:chExt cx="4676775" cy="1684058"/>
                </a:xfrm>
              </p:grpSpPr>
              <p:sp>
                <p:nvSpPr>
                  <p:cNvPr id="8" name="TextBox 7"/>
                  <p:cNvSpPr txBox="1"/>
                  <p:nvPr/>
                </p:nvSpPr>
                <p:spPr>
                  <a:xfrm>
                    <a:off x="971550" y="3267075"/>
                    <a:ext cx="66675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just"/>
                    <a:r>
                      <a:rPr sz="1600" b="0" i="0" u="none">
                        <a:latin typeface="Poppins"/>
                      </a:rPr>
                      <a:t>•</a:t>
                    </a:r>
                  </a:p>
                </p:txBody>
              </p:sp>
              <p:sp>
                <p:nvSpPr>
                  <p:cNvPr id="9" name="TextBox 8"/>
                  <p:cNvSpPr txBox="1"/>
                  <p:nvPr/>
                </p:nvSpPr>
                <p:spPr>
                  <a:xfrm>
                    <a:off x="1038225" y="3267075"/>
                    <a:ext cx="4610100" cy="502958"/>
                  </a:xfrm>
                  <a:prstGeom prst="rect">
                    <a:avLst/>
                  </a:prstGeom>
                  <a:noFill/>
                </p:spPr>
                <p:txBody>
                  <a:bodyPr wrap="square" lIns="66675" tIns="0" rIns="0" bIns="0" anchor="t">
                    <a:spAutoFit/>
                  </a:bodyPr>
                  <a:lstStyle/>
                  <a:p>
                    <a:pPr algn="just">
                      <a:lnSpc>
                        <a:spcPts val="2025"/>
                      </a:lnSpc>
                    </a:pPr>
                    <a:r>
                      <a:rPr sz="1600" b="0" i="0" u="none" dirty="0" err="1">
                        <a:latin typeface="Poppins"/>
                      </a:rPr>
                      <a:t>Simulador</a:t>
                    </a:r>
                    <a:r>
                      <a:rPr sz="1600" b="0" i="0" u="none" dirty="0">
                        <a:latin typeface="Poppins"/>
                      </a:rPr>
                      <a:t> </a:t>
                    </a:r>
                    <a:r>
                      <a:rPr sz="1600" b="0" i="0" u="none" dirty="0" err="1">
                        <a:latin typeface="Poppins"/>
                      </a:rPr>
                      <a:t>funcional</a:t>
                    </a:r>
                    <a:r>
                      <a:rPr sz="1600" b="0" i="0" u="none" dirty="0">
                        <a:latin typeface="Poppins"/>
                      </a:rPr>
                      <a:t> con </a:t>
                    </a:r>
                    <a:r>
                      <a:rPr sz="1600" b="0" i="0" u="none" dirty="0" err="1">
                        <a:latin typeface="Poppins"/>
                      </a:rPr>
                      <a:t>soporte</a:t>
                    </a:r>
                    <a:r>
                      <a:rPr sz="1600" b="0" i="0" u="none" dirty="0">
                        <a:latin typeface="Poppins"/>
                      </a:rPr>
                      <a:t> para </a:t>
                    </a:r>
                    <a:r>
                      <a:rPr sz="1600" b="0" i="0" u="none" dirty="0" err="1">
                        <a:latin typeface="Poppins"/>
                      </a:rPr>
                      <a:t>mapeo</a:t>
                    </a:r>
                    <a:r>
                      <a:rPr sz="1600" b="0" i="0" u="none" dirty="0">
                        <a:latin typeface="Poppins"/>
                      </a:rPr>
                      <a:t> </a:t>
                    </a:r>
                    <a:r>
                      <a:rPr sz="1600" b="0" i="0" u="none" dirty="0" err="1">
                        <a:latin typeface="Poppins"/>
                      </a:rPr>
                      <a:t>directo</a:t>
                    </a:r>
                    <a:r>
                      <a:rPr sz="1600" b="0" i="0" u="none" dirty="0">
                        <a:latin typeface="Poppins"/>
                      </a:rPr>
                      <a:t> y </a:t>
                    </a:r>
                    <a:r>
                      <a:rPr sz="1600" b="0" i="0" u="none" dirty="0" err="1">
                        <a:latin typeface="Poppins"/>
                      </a:rPr>
                      <a:t>asociativo</a:t>
                    </a:r>
                    <a:endParaRPr sz="1600" b="0" i="0" u="none" dirty="0">
                      <a:latin typeface="Poppins"/>
                    </a:endParaRPr>
                  </a:p>
                </p:txBody>
              </p:sp>
              <p:sp>
                <p:nvSpPr>
                  <p:cNvPr id="10" name="TextBox 9"/>
                  <p:cNvSpPr txBox="1"/>
                  <p:nvPr/>
                </p:nvSpPr>
                <p:spPr>
                  <a:xfrm>
                    <a:off x="971550" y="3857625"/>
                    <a:ext cx="66675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just"/>
                    <a:r>
                      <a:rPr sz="1600" b="0" i="0" u="none">
                        <a:latin typeface="Poppins"/>
                      </a:rPr>
                      <a:t>•</a:t>
                    </a:r>
                  </a:p>
                </p:txBody>
              </p:sp>
              <p:sp>
                <p:nvSpPr>
                  <p:cNvPr id="11" name="TextBox 10"/>
                  <p:cNvSpPr txBox="1"/>
                  <p:nvPr/>
                </p:nvSpPr>
                <p:spPr>
                  <a:xfrm>
                    <a:off x="1038225" y="3857625"/>
                    <a:ext cx="4610100" cy="502958"/>
                  </a:xfrm>
                  <a:prstGeom prst="rect">
                    <a:avLst/>
                  </a:prstGeom>
                  <a:noFill/>
                </p:spPr>
                <p:txBody>
                  <a:bodyPr wrap="square" lIns="66675" tIns="0" rIns="0" bIns="0" anchor="t">
                    <a:spAutoFit/>
                  </a:bodyPr>
                  <a:lstStyle/>
                  <a:p>
                    <a:pPr algn="just">
                      <a:lnSpc>
                        <a:spcPts val="2025"/>
                      </a:lnSpc>
                    </a:pPr>
                    <a:r>
                      <a:rPr lang="es-ES" sz="1600" dirty="0"/>
                      <a:t>Se integró con éxito el algoritmo de reemplazo LRU y la técnica de </a:t>
                    </a:r>
                    <a:r>
                      <a:rPr lang="es-ES" sz="1600" dirty="0" err="1"/>
                      <a:t>prefetch</a:t>
                    </a:r>
                    <a:r>
                      <a:rPr lang="es-ES" sz="1600" dirty="0"/>
                      <a:t> para optimizar el rendimiento</a:t>
                    </a:r>
                    <a:endParaRPr sz="1600" b="0" i="0" u="none" dirty="0">
                      <a:latin typeface="Poppins"/>
                    </a:endParaRPr>
                  </a:p>
                </p:txBody>
              </p:sp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971550" y="4448175"/>
                    <a:ext cx="66675" cy="24622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just"/>
                    <a:r>
                      <a:rPr sz="1600" b="0" i="0" u="none">
                        <a:latin typeface="Poppins"/>
                      </a:rPr>
                      <a:t>•</a:t>
                    </a:r>
                  </a:p>
                </p:txBody>
              </p:sp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1038225" y="4448175"/>
                    <a:ext cx="4610100" cy="502958"/>
                  </a:xfrm>
                  <a:prstGeom prst="rect">
                    <a:avLst/>
                  </a:prstGeom>
                  <a:noFill/>
                </p:spPr>
                <p:txBody>
                  <a:bodyPr wrap="square" lIns="66675" tIns="0" rIns="0" bIns="0" anchor="t">
                    <a:spAutoFit/>
                  </a:bodyPr>
                  <a:lstStyle/>
                  <a:p>
                    <a:pPr algn="just">
                      <a:lnSpc>
                        <a:spcPts val="2025"/>
                      </a:lnSpc>
                    </a:pPr>
                    <a:r>
                      <a:rPr sz="1600" b="0" i="0" u="none" dirty="0" err="1">
                        <a:latin typeface="Poppins"/>
                      </a:rPr>
                      <a:t>Comprensión</a:t>
                    </a:r>
                    <a:r>
                      <a:rPr sz="1600" b="0" i="0" u="none" dirty="0">
                        <a:latin typeface="Poppins"/>
                      </a:rPr>
                      <a:t> profunda de los </a:t>
                    </a:r>
                    <a:r>
                      <a:rPr sz="1600" b="0" i="0" u="none" dirty="0" err="1">
                        <a:latin typeface="Poppins"/>
                      </a:rPr>
                      <a:t>compromisos</a:t>
                    </a:r>
                    <a:r>
                      <a:rPr sz="1600" b="0" i="0" u="none" dirty="0">
                        <a:latin typeface="Poppins"/>
                      </a:rPr>
                      <a:t> de </a:t>
                    </a:r>
                    <a:r>
                      <a:rPr sz="1600" b="0" i="0" u="none" dirty="0" err="1">
                        <a:latin typeface="Poppins"/>
                      </a:rPr>
                      <a:t>diseño</a:t>
                    </a:r>
                    <a:r>
                      <a:rPr sz="1600" b="0" i="0" u="none" dirty="0">
                        <a:latin typeface="Poppins"/>
                      </a:rPr>
                      <a:t> </a:t>
                    </a:r>
                    <a:r>
                      <a:rPr sz="1600" b="0" i="0" u="none" dirty="0" err="1">
                        <a:latin typeface="Poppins"/>
                      </a:rPr>
                      <a:t>en</a:t>
                    </a:r>
                    <a:r>
                      <a:rPr sz="1600" b="0" i="0" u="none" dirty="0">
                        <a:latin typeface="Poppins"/>
                      </a:rPr>
                      <a:t> </a:t>
                    </a:r>
                    <a:r>
                      <a:rPr sz="1600" b="0" i="0" u="none" dirty="0" err="1">
                        <a:latin typeface="Poppins"/>
                      </a:rPr>
                      <a:t>memoria</a:t>
                    </a:r>
                    <a:r>
                      <a:rPr sz="1600" b="0" i="0" u="none" dirty="0">
                        <a:latin typeface="Poppins"/>
                      </a:rPr>
                      <a:t> </a:t>
                    </a:r>
                    <a:r>
                      <a:rPr sz="1600" b="0" i="0" u="none" dirty="0" err="1">
                        <a:latin typeface="Poppins"/>
                      </a:rPr>
                      <a:t>caché</a:t>
                    </a:r>
                    <a:endParaRPr sz="1600" b="0" i="0" u="none" dirty="0">
                      <a:latin typeface="Poppins"/>
                    </a:endParaRPr>
                  </a:p>
                </p:txBody>
              </p:sp>
            </p:grpSp>
          </p:grpSp>
          <p:grpSp>
            <p:nvGrpSpPr>
              <p:cNvPr id="24" name="Grupo 23">
                <a:extLst>
                  <a:ext uri="{FF2B5EF4-FFF2-40B4-BE49-F238E27FC236}">
                    <a16:creationId xmlns:a16="http://schemas.microsoft.com/office/drawing/2014/main" id="{6220EC71-F7D8-43EB-86C6-F40DEF26E56A}"/>
                  </a:ext>
                </a:extLst>
              </p:cNvPr>
              <p:cNvGrpSpPr/>
              <p:nvPr/>
            </p:nvGrpSpPr>
            <p:grpSpPr>
              <a:xfrm>
                <a:off x="6495097" y="2800498"/>
                <a:ext cx="4987771" cy="2079732"/>
                <a:chOff x="6667500" y="2871401"/>
                <a:chExt cx="4987771" cy="2079732"/>
              </a:xfrm>
            </p:grpSpPr>
            <p:sp>
              <p:nvSpPr>
                <p:cNvPr id="6" name="TextBox 5"/>
                <p:cNvSpPr txBox="1"/>
                <p:nvPr/>
              </p:nvSpPr>
              <p:spPr>
                <a:xfrm>
                  <a:off x="6829425" y="2871401"/>
                  <a:ext cx="4740592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r"/>
                  <a:r>
                    <a:rPr b="1" i="0" u="none" dirty="0" err="1">
                      <a:solidFill>
                        <a:srgbClr val="002060"/>
                      </a:solidFill>
                      <a:latin typeface="Poppins"/>
                    </a:rPr>
                    <a:t>Dificultades</a:t>
                  </a:r>
                  <a:r>
                    <a:rPr b="1" i="0" u="none" dirty="0">
                      <a:solidFill>
                        <a:srgbClr val="002060"/>
                      </a:solidFill>
                      <a:latin typeface="Poppins"/>
                    </a:rPr>
                    <a:t> y </a:t>
                  </a:r>
                  <a:r>
                    <a:rPr b="1" i="0" u="none" dirty="0" err="1">
                      <a:solidFill>
                        <a:srgbClr val="002060"/>
                      </a:solidFill>
                      <a:latin typeface="Poppins"/>
                    </a:rPr>
                    <a:t>Equipo</a:t>
                  </a:r>
                  <a:endParaRPr b="1" i="0" u="none" dirty="0">
                    <a:solidFill>
                      <a:srgbClr val="002060"/>
                    </a:solidFill>
                    <a:latin typeface="Poppins"/>
                  </a:endParaRPr>
                </a:p>
              </p:txBody>
            </p:sp>
            <p:pic>
              <p:nvPicPr>
                <p:cNvPr id="14" name="Picture 13" descr="image.png"/>
                <p:cNvPicPr>
                  <a:picLocks noChangeAspect="1"/>
                </p:cNvPicPr>
                <p:nvPr/>
              </p:nvPicPr>
              <p:blipFill>
                <a:blip r:embed="rId3"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</a:blip>
                <a:stretch>
                  <a:fillRect/>
                </a:stretch>
              </p:blipFill>
              <p:spPr>
                <a:xfrm>
                  <a:off x="9327532" y="2935190"/>
                  <a:ext cx="190500" cy="190500"/>
                </a:xfrm>
                <a:prstGeom prst="rect">
                  <a:avLst/>
                </a:prstGeom>
              </p:spPr>
            </p:pic>
            <p:sp>
              <p:nvSpPr>
                <p:cNvPr id="15" name="TextBox 14"/>
                <p:cNvSpPr txBox="1"/>
                <p:nvPr/>
              </p:nvSpPr>
              <p:spPr>
                <a:xfrm>
                  <a:off x="6667500" y="3267075"/>
                  <a:ext cx="66675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just"/>
                  <a:r>
                    <a:rPr sz="1600" b="0" i="0" u="none" dirty="0">
                      <a:latin typeface="Poppins"/>
                    </a:rPr>
                    <a:t>•</a:t>
                  </a:r>
                </a:p>
              </p:txBody>
            </p:sp>
            <p:sp>
              <p:nvSpPr>
                <p:cNvPr id="16" name="TextBox 15"/>
                <p:cNvSpPr txBox="1"/>
                <p:nvPr/>
              </p:nvSpPr>
              <p:spPr>
                <a:xfrm>
                  <a:off x="6734175" y="3267075"/>
                  <a:ext cx="4610100" cy="512961"/>
                </a:xfrm>
                <a:prstGeom prst="rect">
                  <a:avLst/>
                </a:prstGeom>
                <a:noFill/>
              </p:spPr>
              <p:txBody>
                <a:bodyPr wrap="square" lIns="66675" tIns="0" rIns="0" bIns="0" anchor="t">
                  <a:spAutoFit/>
                </a:bodyPr>
                <a:lstStyle/>
                <a:p>
                  <a:pPr>
                    <a:lnSpc>
                      <a:spcPts val="2025"/>
                    </a:lnSpc>
                  </a:pPr>
                  <a:r>
                    <a:rPr lang="es-ES" sz="1600" dirty="0"/>
                    <a:t>La correcta implementación del algoritmo LRU exigió precisión en las decisiones de reemplazo</a:t>
                  </a:r>
                  <a:endParaRPr sz="1600" b="0" i="0" u="none" dirty="0">
                    <a:latin typeface="Poppins"/>
                  </a:endParaRPr>
                </a:p>
              </p:txBody>
            </p:sp>
            <p:sp>
              <p:nvSpPr>
                <p:cNvPr id="17" name="TextBox 16"/>
                <p:cNvSpPr txBox="1"/>
                <p:nvPr/>
              </p:nvSpPr>
              <p:spPr>
                <a:xfrm>
                  <a:off x="6667500" y="3857625"/>
                  <a:ext cx="66675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just"/>
                  <a:r>
                    <a:rPr sz="1600" b="0" i="0" u="none" dirty="0">
                      <a:latin typeface="Poppins"/>
                    </a:rPr>
                    <a:t>•</a:t>
                  </a:r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6734174" y="3857625"/>
                  <a:ext cx="4921097" cy="502958"/>
                </a:xfrm>
                <a:prstGeom prst="rect">
                  <a:avLst/>
                </a:prstGeom>
                <a:noFill/>
              </p:spPr>
              <p:txBody>
                <a:bodyPr wrap="square" lIns="66675" tIns="0" rIns="0" bIns="0" anchor="t">
                  <a:spAutoFit/>
                </a:bodyPr>
                <a:lstStyle/>
                <a:p>
                  <a:pPr algn="just">
                    <a:lnSpc>
                      <a:spcPts val="2025"/>
                    </a:lnSpc>
                  </a:pPr>
                  <a:r>
                    <a:rPr lang="es-ES" sz="1600" dirty="0"/>
                    <a:t>El manejo del tamaño de bloque en los cálculos de índices, tags, </a:t>
                  </a:r>
                  <a:r>
                    <a:rPr lang="es-ES" sz="1600" dirty="0" err="1"/>
                    <a:t>offsets</a:t>
                  </a:r>
                  <a:r>
                    <a:rPr lang="es-ES" sz="1600" dirty="0"/>
                    <a:t> y </a:t>
                  </a:r>
                  <a:r>
                    <a:rPr lang="es-ES" sz="1600" dirty="0" err="1"/>
                    <a:t>prefetch</a:t>
                  </a:r>
                  <a:r>
                    <a:rPr lang="es-ES" sz="1600" dirty="0"/>
                    <a:t> representó un reto aritmético</a:t>
                  </a:r>
                  <a:endParaRPr sz="1600" b="0" i="0" u="none" dirty="0">
                    <a:latin typeface="Poppins"/>
                  </a:endParaRPr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6667500" y="4448175"/>
                  <a:ext cx="66675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just"/>
                  <a:r>
                    <a:rPr sz="1600" b="0" i="0" u="none" dirty="0">
                      <a:latin typeface="Poppins"/>
                    </a:rPr>
                    <a:t>•</a:t>
                  </a:r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>
                  <a:off x="6734175" y="4448175"/>
                  <a:ext cx="4610100" cy="502958"/>
                </a:xfrm>
                <a:prstGeom prst="rect">
                  <a:avLst/>
                </a:prstGeom>
                <a:noFill/>
              </p:spPr>
              <p:txBody>
                <a:bodyPr wrap="square" lIns="66675" tIns="0" rIns="0" bIns="0" anchor="t">
                  <a:spAutoFit/>
                </a:bodyPr>
                <a:lstStyle/>
                <a:p>
                  <a:pPr algn="just">
                    <a:lnSpc>
                      <a:spcPts val="2025"/>
                    </a:lnSpc>
                  </a:pPr>
                  <a:r>
                    <a:rPr lang="es-ES" sz="1600" dirty="0"/>
                    <a:t>Logramos fortalecer la comunicación y el trabajo en equipo, mejorando la consistencia del código</a:t>
                  </a:r>
                  <a:endParaRPr sz="1600" b="0" i="0" u="none" dirty="0">
                    <a:latin typeface="Poppins"/>
                  </a:endParaRPr>
                </a:p>
              </p:txBody>
            </p:sp>
          </p:grpSp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B58319D3-66F5-41B4-B410-4B0B9AAFB217}"/>
                  </a:ext>
                </a:extLst>
              </p:cNvPr>
              <p:cNvSpPr/>
              <p:nvPr/>
            </p:nvSpPr>
            <p:spPr>
              <a:xfrm>
                <a:off x="3924127" y="1681267"/>
                <a:ext cx="4343744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1600" dirty="0"/>
                  <a:t>La simulación ayudó a entender cómo funciona la caché y qué factores afectan su rendimiento:</a:t>
                </a:r>
                <a:endParaRPr lang="es-VE" sz="1600" dirty="0"/>
              </a:p>
            </p:txBody>
          </p:sp>
          <p:sp>
            <p:nvSpPr>
              <p:cNvPr id="27" name="Rectángulo 26">
                <a:extLst>
                  <a:ext uri="{FF2B5EF4-FFF2-40B4-BE49-F238E27FC236}">
                    <a16:creationId xmlns:a16="http://schemas.microsoft.com/office/drawing/2014/main" id="{A07E65C2-22DD-42EF-9D45-7AE9AFC56F42}"/>
                  </a:ext>
                </a:extLst>
              </p:cNvPr>
              <p:cNvSpPr/>
              <p:nvPr/>
            </p:nvSpPr>
            <p:spPr>
              <a:xfrm>
                <a:off x="2752454" y="5413087"/>
                <a:ext cx="6687091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1600" dirty="0"/>
                  <a:t>El proyecto fortaleció los conceptos de arquitectura al demostrar que la caché equilibra capacidad y velocidad mediante técnicas como </a:t>
                </a:r>
                <a:r>
                  <a:rPr lang="es-ES" sz="1600" dirty="0" err="1"/>
                  <a:t>prefetch</a:t>
                </a:r>
                <a:r>
                  <a:rPr lang="es-ES" sz="1600" dirty="0"/>
                  <a:t> y LRU</a:t>
                </a:r>
                <a:endParaRPr lang="es-VE" sz="1600" dirty="0"/>
              </a:p>
            </p:txBody>
          </p:sp>
        </p:grpSp>
        <p:cxnSp>
          <p:nvCxnSpPr>
            <p:cNvPr id="29" name="Conector: angular 28">
              <a:extLst>
                <a:ext uri="{FF2B5EF4-FFF2-40B4-BE49-F238E27FC236}">
                  <a16:creationId xmlns:a16="http://schemas.microsoft.com/office/drawing/2014/main" id="{DE712B1F-E3C0-4CE2-B4DF-807E747F9C5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531314" y="2368915"/>
              <a:ext cx="1156771" cy="513220"/>
            </a:xfrm>
            <a:prstGeom prst="bentConnector3">
              <a:avLst/>
            </a:prstGeom>
            <a:ln>
              <a:solidFill>
                <a:srgbClr val="2D61CB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: angular 31">
              <a:extLst>
                <a:ext uri="{FF2B5EF4-FFF2-40B4-BE49-F238E27FC236}">
                  <a16:creationId xmlns:a16="http://schemas.microsoft.com/office/drawing/2014/main" id="{22C0D207-1C0A-464D-A58E-BBC7DC0BB523}"/>
                </a:ext>
              </a:extLst>
            </p:cNvPr>
            <p:cNvCxnSpPr>
              <a:cxnSpLocks/>
            </p:cNvCxnSpPr>
            <p:nvPr/>
          </p:nvCxnSpPr>
          <p:spPr>
            <a:xfrm>
              <a:off x="7328275" y="2363473"/>
              <a:ext cx="1043899" cy="585589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2D61CB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B2F9B6A-2B60-4EA8-BFED-3C3DBF621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599" b="98997" l="5000" r="99141">
                        <a14:foregroundMark x1="20703" y1="51289" x2="20703" y2="51289"/>
                        <a14:foregroundMark x1="18047" y1="33238" x2="18047" y2="33238"/>
                        <a14:foregroundMark x1="13906" y1="55301" x2="13906" y2="55301"/>
                        <a14:foregroundMark x1="19688" y1="55874" x2="19688" y2="55874"/>
                        <a14:foregroundMark x1="20859" y1="65043" x2="20859" y2="65043"/>
                        <a14:foregroundMark x1="17109" y1="55444" x2="17109" y2="55444"/>
                        <a14:foregroundMark x1="16641" y1="71203" x2="16641" y2="71203"/>
                        <a14:foregroundMark x1="17344" y1="67479" x2="17344" y2="67479"/>
                        <a14:foregroundMark x1="17344" y1="63610" x2="17344" y2="63610"/>
                        <a14:foregroundMark x1="12812" y1="74212" x2="12812" y2="74212"/>
                        <a14:foregroundMark x1="5000" y1="68625" x2="5000" y2="68625"/>
                        <a14:foregroundMark x1="10547" y1="97564" x2="10547" y2="97564"/>
                        <a14:foregroundMark x1="37422" y1="64756" x2="37422" y2="64756"/>
                        <a14:foregroundMark x1="40391" y1="69198" x2="40391" y2="69198"/>
                        <a14:foregroundMark x1="39375" y1="71633" x2="39375" y2="71633"/>
                        <a14:foregroundMark x1="93281" y1="71203" x2="93281" y2="71203"/>
                        <a14:foregroundMark x1="99141" y1="71490" x2="99141" y2="71490"/>
                        <a14:foregroundMark x1="89297" y1="98997" x2="89297" y2="98997"/>
                        <a14:foregroundMark x1="90469" y1="96418" x2="90469" y2="96418"/>
                        <a14:foregroundMark x1="88516" y1="96132" x2="88516" y2="96132"/>
                        <a14:foregroundMark x1="84453" y1="97708" x2="84453" y2="97708"/>
                        <a14:foregroundMark x1="81875" y1="95702" x2="81875" y2="95702"/>
                        <a14:foregroundMark x1="77109" y1="92693" x2="77109" y2="92693"/>
                        <a14:foregroundMark x1="64063" y1="92837" x2="64063" y2="92837"/>
                        <a14:foregroundMark x1="56719" y1="94842" x2="56719" y2="94842"/>
                        <a14:foregroundMark x1="45938" y1="90544" x2="45938" y2="90544"/>
                        <a14:foregroundMark x1="37656" y1="93840" x2="37656" y2="93840"/>
                        <a14:foregroundMark x1="34531" y1="87249" x2="34531" y2="87249"/>
                        <a14:foregroundMark x1="28750" y1="80086" x2="28750" y2="80086"/>
                        <a14:foregroundMark x1="28281" y1="78223" x2="28281" y2="78223"/>
                        <a14:foregroundMark x1="29375" y1="77794" x2="29375" y2="77794"/>
                        <a14:foregroundMark x1="31953" y1="86533" x2="31953" y2="86533"/>
                        <a14:foregroundMark x1="36953" y1="88252" x2="36953" y2="88252"/>
                        <a14:foregroundMark x1="37031" y1="84527" x2="37031" y2="84527"/>
                        <a14:foregroundMark x1="37031" y1="84527" x2="37031" y2="84527"/>
                        <a14:foregroundMark x1="35156" y1="85387" x2="35156" y2="85387"/>
                        <a14:foregroundMark x1="35156" y1="85387" x2="35156" y2="85387"/>
                        <a14:foregroundMark x1="35156" y1="85387" x2="35156" y2="85387"/>
                        <a14:foregroundMark x1="35156" y1="85387" x2="35156" y2="85387"/>
                        <a14:foregroundMark x1="33906" y1="86676" x2="33906" y2="86676"/>
                        <a14:foregroundMark x1="33906" y1="86676" x2="33906" y2="86676"/>
                        <a14:foregroundMark x1="33672" y1="90258" x2="33672" y2="90258"/>
                        <a14:foregroundMark x1="33828" y1="90831" x2="33828" y2="90831"/>
                        <a14:foregroundMark x1="34766" y1="93840" x2="34766" y2="93840"/>
                        <a14:foregroundMark x1="34844" y1="93983" x2="34844" y2="93983"/>
                        <a14:foregroundMark x1="36406" y1="95845" x2="36406" y2="95845"/>
                        <a14:foregroundMark x1="36563" y1="95989" x2="36563" y2="95989"/>
                        <a14:foregroundMark x1="47969" y1="76361" x2="47969" y2="76361"/>
                        <a14:foregroundMark x1="47969" y1="76361" x2="47969" y2="76361"/>
                        <a14:foregroundMark x1="50156" y1="78510" x2="50156" y2="78510"/>
                        <a14:foregroundMark x1="50313" y1="78797" x2="50313" y2="79226"/>
                        <a14:foregroundMark x1="46953" y1="81662" x2="46953" y2="81662"/>
                        <a14:foregroundMark x1="46953" y1="81662" x2="46953" y2="81662"/>
                        <a14:foregroundMark x1="43984" y1="73926" x2="43984" y2="73926"/>
                        <a14:foregroundMark x1="55156" y1="84527" x2="55156" y2="84527"/>
                        <a14:foregroundMark x1="54453" y1="82951" x2="54453" y2="82951"/>
                        <a14:foregroundMark x1="26719" y1="62751" x2="26719" y2="62751"/>
                        <a14:foregroundMark x1="58672" y1="40974" x2="58672" y2="40974"/>
                        <a14:foregroundMark x1="58984" y1="37536" x2="58984" y2="37536"/>
                        <a14:foregroundMark x1="57813" y1="31519" x2="57813" y2="31519"/>
                        <a14:foregroundMark x1="59766" y1="24069" x2="59766" y2="24069"/>
                        <a14:foregroundMark x1="59609" y1="24069" x2="59609" y2="24069"/>
                        <a14:foregroundMark x1="76953" y1="69054" x2="76953" y2="69054"/>
                        <a14:foregroundMark x1="69297" y1="73352" x2="69297" y2="73352"/>
                        <a14:foregroundMark x1="77266" y1="82235" x2="77266" y2="82235"/>
                        <a14:foregroundMark x1="85625" y1="98567" x2="85625" y2="98567"/>
                        <a14:foregroundMark x1="85625" y1="96132" x2="85625" y2="96132"/>
                        <a14:foregroundMark x1="85625" y1="96132" x2="85625" y2="96132"/>
                        <a14:foregroundMark x1="50781" y1="65043" x2="50781" y2="65043"/>
                        <a14:foregroundMark x1="42109" y1="97851" x2="42109" y2="97851"/>
                        <a14:foregroundMark x1="78516" y1="82235" x2="78516" y2="82235"/>
                        <a14:foregroundMark x1="79219" y1="81662" x2="79219" y2="81662"/>
                        <a14:foregroundMark x1="35625" y1="64470" x2="35625" y2="64470"/>
                        <a14:foregroundMark x1="38672" y1="60602" x2="38672" y2="60602"/>
                        <a14:foregroundMark x1="33281" y1="61032" x2="33281" y2="61032"/>
                        <a14:foregroundMark x1="32344" y1="60745" x2="32344" y2="60745"/>
                        <a14:foregroundMark x1="34766" y1="61605" x2="34766" y2="61605"/>
                        <a14:foregroundMark x1="35781" y1="61605" x2="35781" y2="61605"/>
                        <a14:foregroundMark x1="36250" y1="61032" x2="36250" y2="61032"/>
                        <a14:foregroundMark x1="37031" y1="60458" x2="37031" y2="60458"/>
                        <a14:foregroundMark x1="32969" y1="60029" x2="32969" y2="60029"/>
                        <a14:foregroundMark x1="32813" y1="59885" x2="32813" y2="59885"/>
                        <a14:foregroundMark x1="32422" y1="59885" x2="32422" y2="59885"/>
                        <a14:foregroundMark x1="32734" y1="59885" x2="32734" y2="59885"/>
                        <a14:foregroundMark x1="38906" y1="60029" x2="38906" y2="60029"/>
                        <a14:foregroundMark x1="38906" y1="60029" x2="38906" y2="60029"/>
                        <a14:foregroundMark x1="38906" y1="60029" x2="38906" y2="60029"/>
                        <a14:foregroundMark x1="38516" y1="60745" x2="38516" y2="60745"/>
                        <a14:foregroundMark x1="38906" y1="60458" x2="38906" y2="60458"/>
                        <a14:foregroundMark x1="38906" y1="60458" x2="38906" y2="60458"/>
                        <a14:foregroundMark x1="38672" y1="60172" x2="38047" y2="59742"/>
                        <a14:foregroundMark x1="37422" y1="59599" x2="36484" y2="59599"/>
                        <a14:foregroundMark x1="32656" y1="60172" x2="32188" y2="60172"/>
                        <a14:foregroundMark x1="55703" y1="87393" x2="55703" y2="87393"/>
                        <a14:foregroundMark x1="56953" y1="93410" x2="50625" y2="94699"/>
                        <a14:foregroundMark x1="50625" y1="94699" x2="57891" y2="92550"/>
                        <a14:foregroundMark x1="57891" y1="92550" x2="50156" y2="93553"/>
                        <a14:foregroundMark x1="50156" y1="93553" x2="50234" y2="93123"/>
                        <a14:foregroundMark x1="52812" y1="62751" x2="55313" y2="61318"/>
                        <a14:backgroundMark x1="58047" y1="27650" x2="58047" y2="27650"/>
                        <a14:backgroundMark x1="57813" y1="32951" x2="57813" y2="32951"/>
                        <a14:backgroundMark x1="58438" y1="30229" x2="58438" y2="30229"/>
                        <a14:backgroundMark x1="58438" y1="30229" x2="58438" y2="30229"/>
                        <a14:backgroundMark x1="58438" y1="30229" x2="58438" y2="30229"/>
                        <a14:backgroundMark x1="58438" y1="34241" x2="58438" y2="34241"/>
                        <a14:backgroundMark x1="58438" y1="34527" x2="58438" y2="34527"/>
                        <a14:backgroundMark x1="58359" y1="37679" x2="58359" y2="37679"/>
                        <a14:backgroundMark x1="58438" y1="38682" x2="58438" y2="38682"/>
                        <a14:backgroundMark x1="58438" y1="38682" x2="58438" y2="38682"/>
                        <a14:backgroundMark x1="57891" y1="31519" x2="57891" y2="31519"/>
                        <a14:backgroundMark x1="58516" y1="27937" x2="58516" y2="28367"/>
                        <a14:backgroundMark x1="58281" y1="28367" x2="58281" y2="28367"/>
                        <a14:backgroundMark x1="58750" y1="26361" x2="58750" y2="26361"/>
                        <a14:backgroundMark x1="58984" y1="25788" x2="58984" y2="25788"/>
                        <a14:backgroundMark x1="58984" y1="25788" x2="58984" y2="25788"/>
                        <a14:backgroundMark x1="59219" y1="24928" x2="59219" y2="24928"/>
                        <a14:backgroundMark x1="59297" y1="24642" x2="59297" y2="24642"/>
                        <a14:backgroundMark x1="59453" y1="24642" x2="59453" y2="24642"/>
                        <a14:backgroundMark x1="59766" y1="24069" x2="59766" y2="24069"/>
                        <a14:backgroundMark x1="59766" y1="24069" x2="59766" y2="24069"/>
                        <a14:backgroundMark x1="59609" y1="23926" x2="59609" y2="23926"/>
                        <a14:backgroundMark x1="59375" y1="24499" x2="59375" y2="24499"/>
                        <a14:backgroundMark x1="59375" y1="24499" x2="59297" y2="24928"/>
                        <a14:backgroundMark x1="59062" y1="25788" x2="59062" y2="25788"/>
                        <a14:backgroundMark x1="59062" y1="26074" x2="59062" y2="26074"/>
                        <a14:backgroundMark x1="59062" y1="25072" x2="59062" y2="25072"/>
                        <a14:backgroundMark x1="59062" y1="25072" x2="59062" y2="25072"/>
                        <a14:backgroundMark x1="59062" y1="25215" x2="59062" y2="26218"/>
                        <a14:backgroundMark x1="59062" y1="26361" x2="58984" y2="26934"/>
                        <a14:backgroundMark x1="58438" y1="27077" x2="58438" y2="27077"/>
                        <a14:backgroundMark x1="58438" y1="27221" x2="58516" y2="29943"/>
                        <a14:backgroundMark x1="58516" y1="29943" x2="58516" y2="29943"/>
                        <a14:backgroundMark x1="58516" y1="29943" x2="58516" y2="29943"/>
                        <a14:backgroundMark x1="58516" y1="27221" x2="58516" y2="27221"/>
                        <a14:backgroundMark x1="59844" y1="23639" x2="59844" y2="23639"/>
                        <a14:backgroundMark x1="59766" y1="23782" x2="59766" y2="23782"/>
                        <a14:backgroundMark x1="59453" y1="24499" x2="59453" y2="24499"/>
                        <a14:backgroundMark x1="58203" y1="31519" x2="58203" y2="31519"/>
                        <a14:backgroundMark x1="58125" y1="31519" x2="58125" y2="31519"/>
                        <a14:backgroundMark x1="57813" y1="31662" x2="57813" y2="31662"/>
                        <a14:backgroundMark x1="58125" y1="37536" x2="58125" y2="37536"/>
                        <a14:backgroundMark x1="58203" y1="40115" x2="58203" y2="40115"/>
                        <a14:backgroundMark x1="58281" y1="40115" x2="58281" y2="40115"/>
                        <a14:backgroundMark x1="58281" y1="41117" x2="58281" y2="41117"/>
                        <a14:backgroundMark x1="58281" y1="41834" x2="58281" y2="41834"/>
                        <a14:backgroundMark x1="58047" y1="43123" x2="58047" y2="43123"/>
                        <a14:backgroundMark x1="58828" y1="40401" x2="58828" y2="40401"/>
                        <a14:backgroundMark x1="58906" y1="41117" x2="58906" y2="41117"/>
                        <a14:backgroundMark x1="58906" y1="38825" x2="58906" y2="38825"/>
                        <a14:backgroundMark x1="58828" y1="37536" x2="58828" y2="37536"/>
                        <a14:backgroundMark x1="58906" y1="37822" x2="58906" y2="37822"/>
                        <a14:backgroundMark x1="58984" y1="37822" x2="58984" y2="37822"/>
                        <a14:backgroundMark x1="59219" y1="37966" x2="59219" y2="37966"/>
                        <a14:backgroundMark x1="58828" y1="40831" x2="58828" y2="40831"/>
                        <a14:backgroundMark x1="58672" y1="41117" x2="58672" y2="41117"/>
                        <a14:backgroundMark x1="58672" y1="41117" x2="58672" y2="41117"/>
                        <a14:backgroundMark x1="59219" y1="37966" x2="59219" y2="37966"/>
                        <a14:backgroundMark x1="58984" y1="38395" x2="58984" y2="38395"/>
                        <a14:backgroundMark x1="49375" y1="61748" x2="49375" y2="61748"/>
                        <a14:backgroundMark x1="51328" y1="63610" x2="51328" y2="63610"/>
                        <a14:backgroundMark x1="51328" y1="62751" x2="51328" y2="62751"/>
                        <a14:backgroundMark x1="52734" y1="62034" x2="52734" y2="62034"/>
                        <a14:backgroundMark x1="7656" y1="98711" x2="7656" y2="98711"/>
                        <a14:backgroundMark x1="97031" y1="95845" x2="97031" y2="95845"/>
                        <a14:backgroundMark x1="81328" y1="80659" x2="81328" y2="80659"/>
                        <a14:backgroundMark x1="77734" y1="68338" x2="77734" y2="68338"/>
                        <a14:backgroundMark x1="75625" y1="62751" x2="75625" y2="62751"/>
                        <a14:backgroundMark x1="75703" y1="61748" x2="75703" y2="61748"/>
                        <a14:backgroundMark x1="26563" y1="63897" x2="26563" y2="62464"/>
                        <a14:backgroundMark x1="77188" y1="69628" x2="77188" y2="68625"/>
                        <a14:backgroundMark x1="48984" y1="60172" x2="50000" y2="6189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21455" y="959348"/>
            <a:ext cx="8549089" cy="46619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8392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842</Words>
  <Application>Microsoft Office PowerPoint</Application>
  <PresentationFormat>Panorámica</PresentationFormat>
  <Paragraphs>80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Poppins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User</cp:lastModifiedBy>
  <cp:revision>25</cp:revision>
  <dcterms:created xsi:type="dcterms:W3CDTF">2013-01-27T09:14:16Z</dcterms:created>
  <dcterms:modified xsi:type="dcterms:W3CDTF">2026-09-03T15:50:00Z</dcterms:modified>
  <cp:category/>
</cp:coreProperties>
</file>